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Apresentamos o Azul SmartCargo, proposta acadêmica para o Challenge FIAP e Azul Logística. O protótipo demonstra uma plataforma de apoio à decisão operacional, com dados simulados. Vamos percorrer as telas e explicar como cada uma contribui para a jornada.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objetivo é apoiar o uso eficiente do espaço existente. A proposta reúne priorização, capacidade e acompanhamento em uma única interface. A expectativa de reduzir atrasos ainda é uma hipótese a validar, não um resultado comprovado pelo protótipo.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entrada da plataforma. O operador encontra uma identidade visual consistente e campos de e-mail e senha. No protótipo, o acesso é demonstrativo: não há autenticação real. A finalidade é mostrar como começa a jornada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dashboard oferece uma visão rápida do terminal. As duas cargas prioritárias correspondem a uma crítica e uma alta. A carga pronta não entra nas três ativas. Os gráficos mostram movimentação e distribuição de prioridades; a tabela orienta o operador para a SC-1042. O percentual de 92% representa a base histórica simulada, não apenas as quatro cargas da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página reúne alertas em um único local. O vermelho chama atenção para o prazo da SC-1042, enquanto o amarelo indica a área próxima do limite. O operador pode abrir a análise do risco ou consultar a capacidade. O aviso de carga pronta completa a visão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tabela concentra os dados das quatro cargas do cenário. Cada registro traz identificação, destino, voo, peso, etapa e prioridade. A tela oferece busca, filtro de críticas, cadastro e acesso aos detalhes. Isso reduz a necessidade de procurar informações em controles separados.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estado demonstra a lista filtrada, exibindo somente a carga crítica SC-1042. O operador pode abrir seus detalhes ou limpar os filtros. No protótipo, o resultado é pré-definido; a consulta dinâmica será parte da implementação futura.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reúne os dados que permitem planejar o processamento. O prazo disponível e a estimativa de duração sustentam a classificação da prioridade. Este formulário demonstra a SC-1046, em um ramo separado da jornada principal. Os campos são visuais no modo de apresentação.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mostramos uma tentativa inválida. As mensagens explicam o que precisa ser corrigido, como o formato do AWB, peso positivo e preenchimento dos dados obrigatórios. São estados de erro desenhados, e não validações executadas em tempo real. A regra deverá ser implementada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confirmação apresenta a nova carga SC-1046, com 200 quilos. Como o prazo é de 90 minutos e a estimativa é de 40, a margem é de 50 minutos e a prioridade é normal. Este é um ramo de demonstração: voltar à lista restaura as quatro cargas originais.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 detalhes, o operador consulta os dados completos da SC-1042 e seu estado inicial, Recebida. A linha do tempo indica as etapas previstas e o histórico registra as ações. Há acesso à edição e ao avanço de etapa. O indicador crítico continua visível para contextualizar a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edição concentra as informações que poderiam ser revisadas pelo operador. Neste protótipo, o botão salva sem alterações para preservar a coerência dos dados entre as telas. A edição livre e o recálculo automático da prioridade ficam para a implementação em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fila organiza as cargas em crítica, alta e normal. A regra compara prazo disponível e tempo estimado. Uma margem negativa indica crítica; de zero a trinta minutos, alta; acima disso, normal. Cada card apresenta os dados que justificam a prioridade, permitindo uma decisão transparente.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SC-1042 tem vinte minutos disponíveis, mas exige trinta e cinco minutos estimados. A margem de menos quinze minutos mostra o risco de atraso. A tela recomenda priorização e verificação de capacidade. Esse risco é uma projeção: o atraso efetivo só será conhecido ao concluir 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SC-1043 tem cinquenta minutos disponíveis e trinta minutos estimados de processamento. Como a margem é de vinte minutos, ela entra na prioridade alta. Existe tempo disponível, mas a folga é pequena. Este exemplo ajuda a comparar a classificação com a carga crítica.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SC-1044 apresenta margem de cinquenta e cinco minutos, calculada a partir de noventa e cinco minutos disponíveis e quarenta estimados. Por superar trinta minutos, a prioridade é normal. Isso permite concentrar a atenção nas cargas mais urgentes sem perder a visibilidade das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iniciar, o sistema reapresenta a carga e o risco. A confirmação torna explícito que o status passará de Recebida para Em separação e que a ação será registrada. O operador também pode cancelar. No arquivo, esta confirmação é um frame de estado, não um modal nativo.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Após confirmar, a interface informa que Mariana Silva iniciou a separação às dez e cinco. A mensagem confirma o registro e direciona o operador à capacidade operacional. No cenário desenhado, a separação começa antes da confirmação da alocação; uma versão futura deve avaliar se a reserva precisa anteceder essa mudança.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mostra recebimento, separação, consolidação e pré-embarque. Cada área apresenta ocupação e limite. A Separação tem doze posições disponíveis; a Consolidação tem apenas uma. Como a SC-1042 exige quatro posições, podemos demonstrar tanto uma alocação possível quanto uma operação bloqueada.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simulação mostra o impacto da alocação: vinte e oito posições ocupadas passam a trinta e duas, dentro do limite de quarenta. O saldo será de oito posições. Até confirmar, não há reserva. Esse passo permite revisar o destino e cancelar sem alterar a ocupação.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cenário alternativo de erro. A Consolidação tem uma posição livre, mas a carga necessita de quatro. Faltam três posições e a operação é bloqueada, preservando a ocupação. O operador deve escolher outra área ou aguardar espaço. Não houve alocação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Após a confirmação, a Separação passa a ter trinta e duas das quarenta posições ocupadas, ou oitenta por cento. A interface confirma a alocação da SC-1042 e direciona ao acompanhamento. As demais áreas mantêm a ocupação do cenário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linha do tempo indica que a carga foi recebida e está em separação. O histórico inclui o início do processamento e a confirmação da alocação. O operador pode avançar para a próxima etapa permitida. A consulta do histórico dá rastreabilidade à movimentação.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estado demonstra a proteção da sequência operacional. Não é permitido saltar diretamente para uma etapa posterior. A carga deve passar por Recebida, Em separação, Consolidada e Pronta para embarque. O bloqueio explica o motivo e oferece retorno ao acompanhamento; no protótipo, o retorno leva aos detalhes iniciais.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carga avança para Consolidada e recebe um novo registro às dez e dezessete. A linha do tempo torna o progresso visível. O card de área ainda exibe Separação porque o protótipo não simula transferências físicas entre áreas. Status do processo e posição alocada são informações distintas neste cenário.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Às dez e vinte e sete, a carga está pronta para embarque e todas as etapas estão registradas. Isso conclui o escopo de processamento apresentado. Não significa que a aeronave decolou ou que houve entrega ao destinatário. A liberação de posições não foi simulada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operação termina em vinte e sete minutos, contra um prazo inicial de vinte. O atraso efetivo é de sete minutos. A carga deixa a lista de críticas ativas por estar pronta, mas a ocorrência não desaparece. O resultado demonstra rastreabilidade; não comprova que a solução eliminou atrasos.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relatório inicial apresenta a base histórica simulada: cem cargas concluídas, das quais noventa e duas no prazo. A ocupação média inicial das quatro áreas é de oitenta e dois vírgula cinco por cento. Os gráficos e ocorrências contextualizam a operação, mas são dados ilustrativos do protótipo.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filtro de turno mostra as quatro cargas do conjunto inicial, com peso total de mil cento e setenta quilos. Uma carga está pronta e uma é crítica. Este recorte não deve ser confundido com a base histórica de cem cargas. Na navegação do protótipo, o filtro abre um estado pré-definido.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a SC-1042 concluída em atraso, a base histórica passa a cento e uma cargas e continua com noventa e duas no prazo. Por isso, o percentual cai para noventa e um vírgula um por cento. A ocupação média sobe para oitenta e cinco por cento. A média de trinta e um minutos é ilustrativa e não é derivável da base exibida; precisará ser recalculada com dados completos na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ordem recomendada para uma demonstração curta. Os slides anteriores detalham cada tela. Os cenários de cadastro, capacidade excedida e tentativa de pular etapa podem ser apresentados como caminhos alternativos. Use os botões da jornada: o menu lateral pode retornar a estados iniciais.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material enviado contém imagens exportadas. A apresentação explica os estados mostrados, sem verificar as conexões do arquivo Figma. Autenticação, filtros, validações, transições e relatórios são simulados. Na implementação, será necessário integrar estados, corrigir métricas demonstrativas e validar o fluxo com operadores. O benefício esperado é melhorar a clareza das decisões e o uso do espaço existente.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Azul SmartCargo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SPRINT 1 • CONCEITO ACADÊMICO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3716000" cy="5394960"/>
          </a:xfrm>
          <a:prstGeom prst="rect">
            <a:avLst/>
          </a:prstGeom>
          <a:solidFill>
            <a:srgbClr val="082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1887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Gestão inteligente</a:t>
            </a:r>
          </a:p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de cargas aéreas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Priorizar urgências, acompanhar etapas e controlar a capacidade do terminal de Viracopos.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38BDF8"/>
                </a:solidFill>
                <a:latin typeface="Aptos"/>
              </a:defRPr>
            </a:pPr>
            <a:r>
              <a:t>Apresentação do protótipo • 28 telas explicadas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O problema e 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1">
                <a:solidFill>
                  <a:srgbClr val="082C50"/>
                </a:solidFill>
                <a:latin typeface="Aptos"/>
              </a:defRPr>
            </a:pPr>
            <a:r>
              <a:t>Desafio operacional</a:t>
            </a:r>
          </a:p>
          <a:p>
            <a:pPr>
              <a:spcAft>
                <a:spcPts val="1400"/>
              </a:spcAft>
              <a:defRPr sz="2700" b="1">
                <a:solidFill>
                  <a:srgbClr val="082C50"/>
                </a:solidFill>
                <a:latin typeface="Aptos"/>
              </a:defRPr>
            </a:pPr>
            <a:r>
              <a:t>Identificar cargas urgentes, evitar alocações além do limite e acompanhar o processamento sem ampliar o espaço físico.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Resposta do protótipo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Prioridade por margem de tempo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Visibilidade da capacidade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Etapas e histórico de ações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Indicadores e ocorrências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Login | Acesso à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3</a:t>
            </a:r>
          </a:p>
        </p:txBody>
      </p:sp>
      <p:pic>
        <p:nvPicPr>
          <p:cNvPr id="6" name="Picture 5" descr="login • Acesso à oper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Identificar o operador e apresentar 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E-mail e senha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Identidade Azul SmartCargo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Entrada na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Dashboard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4</a:t>
            </a:r>
          </a:p>
        </p:txBody>
      </p:sp>
      <p:pic>
        <p:nvPicPr>
          <p:cNvPr id="6" name="Picture 5" descr="dashboard • Dashboard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Transformar dados do terminal em prioridades de 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3 cargas ativas; 2 prioritárias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1 carga crítica: SC-1042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92% no prazo na base histórica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Central de notificações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AVISOS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5</a:t>
            </a:r>
          </a:p>
        </p:txBody>
      </p:sp>
      <p:pic>
        <p:nvPicPr>
          <p:cNvPr id="6" name="Picture 5" descr="avisos • Central de notificaçõ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Reunir situações que exigem atenção.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Risco de atraso da SC-1042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Consolidação com 95% de ocupação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SC-1045 pronta para embarque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Gestão de cargas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CARGAS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6</a:t>
            </a:r>
          </a:p>
        </p:txBody>
      </p:sp>
      <p:pic>
        <p:nvPicPr>
          <p:cNvPr id="6" name="Picture 5" descr="cargas • Gestão de carg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Centralizar consulta e manutenção dos registros.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Código, AWB, destino e voo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Peso, status e prioridade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Pesquisa, filtros e cadastro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Resultado da busca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BUSCA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7</a:t>
            </a:r>
          </a:p>
        </p:txBody>
      </p:sp>
      <p:pic>
        <p:nvPicPr>
          <p:cNvPr id="6" name="Picture 5" descr="busca • Resultado da bu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Encontrar rapidamente a carga relevante.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Filtro de prioridade crítica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SC-1042 como resultado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Limpar filtros para retornar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Cadastro de carga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CADASTRO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8</a:t>
            </a:r>
          </a:p>
        </p:txBody>
      </p:sp>
      <p:pic>
        <p:nvPicPr>
          <p:cNvPr id="6" name="Picture 5" descr="cadastro • Cadastrar 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Registrar os dados necessários ao planejamento.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Identificação, destino e voo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Peso, prazo e estimativa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Validar antes de salvar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Validação do cadastro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VALIDACAO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9</a:t>
            </a:r>
          </a:p>
        </p:txBody>
      </p:sp>
      <p:pic>
        <p:nvPicPr>
          <p:cNvPr id="6" name="Picture 5" descr="validacao • Validação do cada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Evitar informações incompletas ou inválidas.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AWB no formato esperado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Peso maior que zero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Minutos positivos e campos obrigatórios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Cadastro concluído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CADASTRO-OK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6" name="Picture 5" descr="cadastro-ok • Carga cadast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Confirmar o registro e sua classificação.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SC-1046: BSB / AD 4102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90 − 40 = 50 minutos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Prioridade 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Detalhes da carga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DETALHES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6" name="Picture 5" descr="detalhes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Oferecer uma visão individual e rastreável.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SC-1042: REC / AD 4170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Recebida, com margem de −15 min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Linha do tempo e histórico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Edição da carga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EDITAR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6" name="Picture 5" descr="editar • Editar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Demonstrar a revisão dos dados operacionais.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Destino, voo, peso e prazo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Preservação dos dados do cenário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Prioridade calculada pelas regras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Fila inteligente de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6" name="Picture 5" descr="fila • Fila inteligente de prioriz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Ordenar a atenção segundo a margem de tempo.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Margem = prazo − estimativa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Negativa: crítica; 0 a 30: alta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Acima de 30: 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Análise da carga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ANALISE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6" name="Picture 5" descr="analise • Análise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Explicar o risco antes de agir.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SC-1042: prazo de 20 min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Estimativa de 35 min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Margem de −15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Análise da prioridade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ANALISE-ALTA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6" name="Picture 5" descr="analise-alta • Análise • SC-1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Mostrar uma carga com pouca folga.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SC-1043: MAO / AD 4382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50 − 30 = 20 minutos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Acompanhar o processamento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Análise da prioridade normal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ANALISE-NORMAL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6" name="Picture 5" descr="analise-normal • Análise • SC-1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Demonstrar uma situação com margem maior.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SC-1044: SSA / AD 4028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95 − 40 = 55 minutos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Manter a sequência 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Confirmação do processamento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CONFIRMAR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6" name="Picture 5" descr="confirmar • Confirmar process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Garantir uma decisão consciente do operador.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Reforço do risco de atraso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Recebida → Em separação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Confirmar ou cancelar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Processamento iniciado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INICIADO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6" name="Picture 5" descr="iniciado • Processamento inici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Confirmar a ação e orientar o próximo passo.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Registro às 10h05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Status: Em separação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Consultar capacidade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Capacidade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CAPACIDADE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6" name="Picture 5" descr="capacidade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Verificar espaço antes de alocar uma carga.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Quatro áreas monitoradas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Separação: 28/40 ocupadas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SC-1042 exige 4 posições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Simulação de alocação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SIMULACAO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20</a:t>
            </a:r>
          </a:p>
        </p:txBody>
      </p:sp>
      <p:pic>
        <p:nvPicPr>
          <p:cNvPr id="6" name="Picture 5" descr="simulacao • Simulação de aloc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Antecipar o impacto sem reservar espaço.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Separação: 28 → 32 posições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Limite de 40; saldo de 8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Confirmar para efetivar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Exceção | Capacidade excedida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EXCEDIDA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6" name="Picture 5" descr="excedida • Capacidade exced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Impedir uma alocação além do limite.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Consolidação: 19/20 ocupadas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1 livre para uma demanda de 4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Operação bloqueada; faltam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Alocação concluída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ALOCADA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22</a:t>
            </a:r>
          </a:p>
        </p:txBody>
      </p:sp>
      <p:pic>
        <p:nvPicPr>
          <p:cNvPr id="6" name="Picture 5" descr="alocada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Confirmar a ocupação e manter a jornada.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SC-1042 na Separação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32/40 posições: 80%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Seguir para acompanhamento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Acompanhamento | Em separação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ETAPA1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6" name="Picture 5" descr="etapa1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Mostrar o início da execução e seu registro.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Primeira etapa concluída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Separação em andamento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Histórico de início e alocação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Exceção | Transição não permitida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SEQUENCIA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6" name="Picture 5" descr="sequencia • Transição não permit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Preservar a ordem do processamento.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Tentativa de pular uma etapa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Atualização bloqueada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Concluir a sequência prevista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Acompanhamento | Consolidada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ETAPA2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25</a:t>
            </a:r>
          </a:p>
        </p:txBody>
      </p:sp>
      <p:pic>
        <p:nvPicPr>
          <p:cNvPr id="6" name="Picture 5" descr="etapa2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Registrar o avanço intermediário.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Consolidação às 10h17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Histórico atualizado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Próxima etapa: pronta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Acompanhamento | Pronta para embarque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ETAPA3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26</a:t>
            </a:r>
          </a:p>
        </p:txBody>
      </p:sp>
      <p:pic>
        <p:nvPicPr>
          <p:cNvPr id="6" name="Picture 5" descr="etapa3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Concluir o escopo do processamento.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Conclusão às 10h27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Quatro etapas registradas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Consultar o resultado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Resultado da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27</a:t>
            </a:r>
          </a:p>
        </p:txBody>
      </p:sp>
      <p:pic>
        <p:nvPicPr>
          <p:cNvPr id="6" name="Picture 5" descr="resultado • Operação finaliz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Apresentar o desfecho com transparência.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27 minutos realizados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Prazo de 20 min: atraso de 7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2 ativas; nenhuma crítica 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Relatórios operacionais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RELATORIOS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6" name="Picture 5" descr="relatorios • Relatórios operac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Estabelecer a visão histórica de desempenho.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Média simulada: 32 minutos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92 de 100 cargas no prazo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Ocupação média: 82,5%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Relatório do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RELATORIOS-TURNO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6" name="Picture 5" descr="relatorios-turno • Relatório • turno a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Consultar um recorte das cargas apresentadas.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4 cargas na demonstração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Peso total: 1.170 kg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1 pronta no estado inicial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Relatórios após a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TELA RELATORIOS-FINAL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6" name="Picture 5" descr="relatorios-final • Relatórios operac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9555480" cy="5972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241280" y="1143000"/>
            <a:ext cx="3977639" cy="6080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9880" y="1389888"/>
            <a:ext cx="3520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082C50"/>
                </a:solidFill>
                <a:latin typeface="Aptos"/>
              </a:defRPr>
            </a:pPr>
            <a:r>
              <a:t>Registrar o impacto da carga finalizada.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2907792"/>
            <a:ext cx="3520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92/101 no prazo: 91,1%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0 críticas ativas; atraso mantido</a:t>
            </a:r>
          </a:p>
          <a:p>
            <a:pPr>
              <a:spcAft>
                <a:spcPts val="1400"/>
              </a:spcAft>
              <a:defRPr sz="1900" b="0">
                <a:solidFill>
                  <a:srgbClr val="17324D"/>
                </a:solidFill>
                <a:latin typeface="Aptos"/>
              </a:defRPr>
            </a:pPr>
            <a:r>
              <a:t>• Ocupação média: 85%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653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Roteiro de fala nas notas do slide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Como demonstrar a jornada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ROTEIRO DE NAVEGAÇÃO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2801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082C50"/>
                </a:solidFill>
                <a:latin typeface="Aptos"/>
              </a:defRPr>
            </a:pPr>
            <a:r>
              <a:t>1  Login → Dashboard → Fila inteligente</a:t>
            </a:r>
          </a:p>
          <a:p>
            <a:pPr>
              <a:spcAft>
                <a:spcPts val="1400"/>
              </a:spcAft>
              <a:defRPr sz="2700" b="0">
                <a:solidFill>
                  <a:srgbClr val="082C50"/>
                </a:solidFill>
                <a:latin typeface="Aptos"/>
              </a:defRPr>
            </a:pPr>
            <a:r>
              <a:t>2  Analisar SC-1042 → Confirmar início</a:t>
            </a:r>
          </a:p>
          <a:p>
            <a:pPr>
              <a:spcAft>
                <a:spcPts val="1400"/>
              </a:spcAft>
              <a:defRPr sz="2700" b="0">
                <a:solidFill>
                  <a:srgbClr val="082C50"/>
                </a:solidFill>
                <a:latin typeface="Aptos"/>
              </a:defRPr>
            </a:pPr>
            <a:r>
              <a:t>3  Capacidade → Simular Separação → Confirmar alocação</a:t>
            </a:r>
          </a:p>
          <a:p>
            <a:pPr>
              <a:spcAft>
                <a:spcPts val="1400"/>
              </a:spcAft>
              <a:defRPr sz="2700" b="0">
                <a:solidFill>
                  <a:srgbClr val="082C50"/>
                </a:solidFill>
                <a:latin typeface="Aptos"/>
              </a:defRPr>
            </a:pPr>
            <a:r>
              <a:t>4  Acompanhar → Consolidada → Pronta para embarque</a:t>
            </a:r>
          </a:p>
          <a:p>
            <a:pPr>
              <a:spcAft>
                <a:spcPts val="1400"/>
              </a:spcAft>
              <a:defRPr sz="2700" b="0">
                <a:solidFill>
                  <a:srgbClr val="082C50"/>
                </a:solidFill>
                <a:latin typeface="Aptos"/>
              </a:defRPr>
            </a:pPr>
            <a:r>
              <a:t>5  Resultado → Relatórios atualizados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46304"/>
          </a:xfrm>
          <a:prstGeom prst="rect">
            <a:avLst/>
          </a:prstGeom>
          <a:solidFill>
            <a:srgbClr val="087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38328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1">
                <a:solidFill>
                  <a:srgbClr val="082C50"/>
                </a:solidFill>
                <a:latin typeface="Aptos"/>
              </a:defRPr>
            </a:pPr>
            <a:r>
              <a:t>Escopo atual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90688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758A"/>
                </a:solidFill>
                <a:latin typeface="Aptos"/>
              </a:defRPr>
            </a:pPr>
            <a:r>
              <a:t>AZUL SMARTCARGO  /  FIAP + AZUL LOGÍSTICA  /  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7772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0">
                <a:solidFill>
                  <a:srgbClr val="60758A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126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082C50"/>
                </a:solidFill>
                <a:latin typeface="Aptos"/>
              </a:defRPr>
            </a:pPr>
            <a:r>
              <a:t>O que foi apresentado</a:t>
            </a:r>
          </a:p>
          <a:p>
            <a:pPr>
              <a:spcAft>
                <a:spcPts val="1400"/>
              </a:spcAft>
              <a:defRPr sz="2400" b="0">
                <a:solidFill>
                  <a:srgbClr val="082C50"/>
                </a:solidFill>
                <a:latin typeface="Aptos"/>
              </a:defRPr>
            </a:pPr>
            <a:r>
              <a:t>• Interface desktop consistente</a:t>
            </a:r>
          </a:p>
          <a:p>
            <a:pPr>
              <a:spcAft>
                <a:spcPts val="1400"/>
              </a:spcAft>
              <a:defRPr sz="2400" b="0">
                <a:solidFill>
                  <a:srgbClr val="082C50"/>
                </a:solidFill>
                <a:latin typeface="Aptos"/>
              </a:defRPr>
            </a:pPr>
            <a:r>
              <a:t>• Regras de prioridade transparentes</a:t>
            </a:r>
          </a:p>
          <a:p>
            <a:pPr>
              <a:spcAft>
                <a:spcPts val="1400"/>
              </a:spcAft>
              <a:defRPr sz="2400" b="0">
                <a:solidFill>
                  <a:srgbClr val="082C50"/>
                </a:solidFill>
                <a:latin typeface="Aptos"/>
              </a:defRPr>
            </a:pPr>
            <a:r>
              <a:t>• Cenários de sucesso e bloqueio</a:t>
            </a:r>
          </a:p>
          <a:p>
            <a:pPr>
              <a:spcAft>
                <a:spcPts val="1400"/>
              </a:spcAft>
              <a:defRPr sz="2400" b="0">
                <a:solidFill>
                  <a:srgbClr val="082C50"/>
                </a:solidFill>
                <a:latin typeface="Aptos"/>
              </a:defRPr>
            </a:pPr>
            <a:r>
              <a:t>• Histórico e resultado da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463040"/>
            <a:ext cx="6400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Próxima etapa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Implementar HTML, CSS, JS e Tailwind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Validar formulários e persistir dados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Integrar status, alocação e indicadores</a:t>
            </a:r>
          </a:p>
          <a:p>
            <a:pPr>
              <a:spcAft>
                <a:spcPts val="1400"/>
              </a:spcAft>
              <a:defRPr sz="2400" b="0">
                <a:solidFill>
                  <a:srgbClr val="17324D"/>
                </a:solidFill>
                <a:latin typeface="Aptos"/>
              </a:defRPr>
            </a:pPr>
            <a:r>
              <a:t>• Testar a experiência com operadores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