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21"/>
    <p:sldId id="298" r:id="rId22"/>
    <p:sldId id="299" r:id="rId23"/>
    <p:sldId id="300" r:id="rId24"/>
    <p:sldId id="301" r:id="rId25"/>
    <p:sldId id="302" r:id="rId26"/>
    <p:sldId id="303" r:id="rId27"/>
    <p:sldId id="304" r:id="rId28"/>
    <p:sldId id="305" r:id="rId29"/>
    <p:sldId id="306" r:id="rId30"/>
    <p:sldId id="307" r:id="rId31"/>
    <p:sldId id="308" r:id="rId32"/>
    <p:sldId id="309" r:id="rId33"/>
    <p:sldId id="310" r:id="rId34"/>
    <p:sldId id="286" r:id="rId38"/>
    <p:sldId id="287" r:id="rId3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slide" Target="slides/slide3.xml"/><Relationship Id="rId41" Type="http://schemas.openxmlformats.org/officeDocument/2006/relationships/slide" Target="slides/slide4.xml"/><Relationship Id="rId42" Type="http://schemas.openxmlformats.org/officeDocument/2006/relationships/slide" Target="slides/slide5.xml"/><Relationship Id="rId43" Type="http://schemas.openxmlformats.org/officeDocument/2006/relationships/slide" Target="slides/slide6.xml"/><Relationship Id="rId44" Type="http://schemas.openxmlformats.org/officeDocument/2006/relationships/slide" Target="slides/slide7.xml"/><Relationship Id="rId45" Type="http://schemas.openxmlformats.org/officeDocument/2006/relationships/slide" Target="slides/slide8.xml"/><Relationship Id="rId46" Type="http://schemas.openxmlformats.org/officeDocument/2006/relationships/slide" Target="slides/slide9.xml"/><Relationship Id="rId47" Type="http://schemas.openxmlformats.org/officeDocument/2006/relationships/slide" Target="slides/slide10.xml"/><Relationship Id="rId4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Apresentamos o Azul SmartCargo, proposta acadêmica do Challenge FIAP e Azul Logística. Primeiro explicamos o problema, o valor de negócio e como validá-lo. Depois percorremos as 28 telas com dados simulados. Os benefícios são hipóteses, não resultados medidos da operação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desafio é organizar urgências e usar melhor o espaço existente. A proposta reúne priorização, capacidade e acompanhamento. Redução de atrasos é um benefício esperado a validar, e não um resultado comprovado pelo protótipo.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Login | Acesso à operação</a:t>
            </a:r>
          </a:p>
          <a:p>
            <a:r>
              <a:t>Esta é a entrada da plataforma. O operador encontra uma identidade visual consistente e campos de e-mail e senha. No protótipo, o acesso é demonstrativo: não há autenticação real. A finalidade é mostrar como começa a jornada operacional.</a:t>
            </a:r>
          </a:p>
          <a:p/>
          <a:p>
            <a:r>
              <a:t>Dashboard operacional</a:t>
            </a:r>
          </a:p>
          <a:p>
            <a:r>
              <a:t>O dashboard oferece uma visão rápida do terminal. As duas cargas prioritárias correspondem a uma crítica e uma alta. A carga pronta não entra nas três ativas. Os gráficos mostram movimentação e distribuição de prioridades; a tabela orienta o operador para a SC-1042. O percentual de 92% representa a base histórica simulada, não apenas as quatro cargas da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Central de notificações</a:t>
            </a:r>
          </a:p>
          <a:p>
            <a:r>
              <a:t>Esta página reúne alertas em um único local. O vermelho chama atenção para o prazo da SC-1042, enquanto o amarelo indica a área próxima do limite. O operador pode abrir a análise do risco ou consultar a capacidade. O aviso de carga pronta completa a visão operacional.</a:t>
            </a:r>
          </a:p>
          <a:p/>
          <a:p>
            <a:r>
              <a:t>Resultado da busca</a:t>
            </a:r>
          </a:p>
          <a:p>
            <a:r>
              <a:t>Este estado demonstra a lista filtrada, exibindo somente a carga crítica SC-1042. O operador pode abrir seus detalhes ou limpar os filtros. No protótipo, o resultado é pré-definido; a consulta dinâmica será parte da implementação futura.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Gestão de cargas</a:t>
            </a:r>
          </a:p>
          <a:p>
            <a:r>
              <a:t>A tabela concentra os dados das quatro cargas do cenário. Cada registro traz identificação, destino, voo, peso, etapa e prioridade. A tela oferece busca, filtro de críticas, cadastro e acesso aos detalhes. Isso reduz a necessidade de procurar informações em controles separados.</a:t>
            </a:r>
          </a:p>
          <a:p/>
          <a:p>
            <a:r>
              <a:t>Cadastro de carga</a:t>
            </a:r>
          </a:p>
          <a:p>
            <a:r>
              <a:t>O cadastro reúne os dados que permitem planejar o processamento. O prazo disponível e a estimativa de duração sustentam a classificação da prioridade. Este formulário demonstra a SC-1046, em um ramo separado da jornada principal. Os campos são visuais no modo de apresentação.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Validação do cadastro</a:t>
            </a:r>
          </a:p>
          <a:p>
            <a:r>
              <a:t>Aqui mostramos uma tentativa inválida. As mensagens explicam o que precisa ser corrigido, como o formato do AWB, peso positivo e preenchimento dos dados obrigatórios. São estados de erro desenhados, e não validações executadas em tempo real. A regra deverá ser implementada no sistema.</a:t>
            </a:r>
          </a:p>
          <a:p/>
          <a:p>
            <a:r>
              <a:t>Cadastro concluído</a:t>
            </a:r>
          </a:p>
          <a:p>
            <a:r>
              <a:t>A confirmação apresenta a nova carga SC-1046, com 200 quilos. Como o prazo é de 90 minutos e a estimativa é de 40, a margem é de 50 minutos e a prioridade é normal. Este é um ramo de demonstração: voltar à lista restaura as quatro cargas originais.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Detalhes da carga</a:t>
            </a:r>
          </a:p>
          <a:p>
            <a:r>
              <a:t>Nos detalhes, o operador consulta os dados completos da SC-1042 e seu estado inicial, Recebida. A linha do tempo indica as etapas previstas e o histórico registra as ações. Há acesso à edição e ao avanço de etapa. O indicador crítico continua visível para contextualizar a decisão.</a:t>
            </a:r>
          </a:p>
          <a:p/>
          <a:p>
            <a:r>
              <a:t>Edição da carga</a:t>
            </a:r>
          </a:p>
          <a:p>
            <a:r>
              <a:t>A edição concentra as informações que poderiam ser revisadas pelo operador. Neste protótipo, o botão salva sem alterações para preservar a coerência dos dados entre as telas. A edição livre e o recálculo automático da prioridade ficam para a implementação em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Fila inteligente de priorização</a:t>
            </a:r>
          </a:p>
          <a:p>
            <a:r>
              <a:t>A fila organiza as cargas em crítica, alta e normal. A regra compara prazo disponível e tempo estimado. Uma margem negativa indica crítica; de zero a trinta minutos, alta; acima disso, normal. Cada card apresenta os dados que justificam a prioridade, permitindo uma decisão transparente.</a:t>
            </a:r>
          </a:p>
          <a:p/>
          <a:p>
            <a:r>
              <a:t>Análise da carga crítica</a:t>
            </a:r>
          </a:p>
          <a:p>
            <a:r>
              <a:t>A SC-1042 tem vinte minutos disponíveis, mas exige trinta e cinco minutos estimados. A margem de menos quinze minutos mostra o risco de atraso. A tela recomenda priorização e verificação de capacidade. Esse risco é uma projeção: o atraso efetivo só será conhecido ao concluir a operação.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Análise da prioridade alta</a:t>
            </a:r>
          </a:p>
          <a:p>
            <a:r>
              <a:t>A SC-1043 tem cinquenta minutos disponíveis e trinta minutos estimados de processamento. Como a margem é de vinte minutos, ela entra na prioridade alta. Existe tempo disponível, mas a folga é pequena. Este exemplo ajuda a comparar a classificação com a carga crítica.</a:t>
            </a:r>
          </a:p>
          <a:p/>
          <a:p>
            <a:r>
              <a:t>Análise da prioridade normal</a:t>
            </a:r>
          </a:p>
          <a:p>
            <a:r>
              <a:t>A SC-1044 apresenta margem de cinquenta e cinco minutos, calculada a partir de noventa e cinco minutos disponíveis e quarenta estimados. Por superar trinta minutos, a prioridade é normal. Isso permite concentrar a atenção nas cargas mais urgentes sem perder a visibilidade das demais.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Confirmação do processamento</a:t>
            </a:r>
          </a:p>
          <a:p>
            <a:r>
              <a:t>Antes de iniciar, o sistema reapresenta a carga e o risco. A confirmação torna explícito que o status passará de Recebida para Em separação e que a ação será registrada. O operador também pode cancelar. No arquivo, esta confirmação é um frame de estado, não um modal nativo.</a:t>
            </a:r>
          </a:p>
          <a:p/>
          <a:p>
            <a:r>
              <a:t>Processamento iniciado</a:t>
            </a:r>
          </a:p>
          <a:p>
            <a:r>
              <a:t>Após confirmar, a interface informa que Mariana Silva iniciou a separação às dez e cinco. A mensagem confirma o registro e direciona o operador à capacidade operacional. No cenário desenhado, a separação começa antes da confirmação da alocação; uma versão futura deve avaliar se a reserva precisa anteceder essa mudança.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Capacidade operacional</a:t>
            </a:r>
          </a:p>
          <a:p>
            <a:r>
              <a:t>O painel mostra recebimento, separação, consolidação e pré-embarque. Cada área apresenta ocupação e limite. A Separação tem doze posições disponíveis; a Consolidação tem apenas uma. Como a SC-1042 exige quatro posições, podemos demonstrar tanto uma alocação possível quanto uma operação bloqueada.</a:t>
            </a:r>
          </a:p>
          <a:p/>
          <a:p>
            <a:r>
              <a:t>Simulação de alocação</a:t>
            </a:r>
          </a:p>
          <a:p>
            <a:r>
              <a:t>A simulação mostra o impacto da alocação: vinte e oito posições ocupadas passam a trinta e duas, dentro do limite de quarenta. O saldo será de oito posições. Até confirmar, não há reserva. Esse passo permite revisar o destino e cancelar sem alterar a ocupação.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concluída</a:t>
            </a:r>
          </a:p>
          <a:p>
            <a:r>
              <a:t>Após a confirmação, a Separação passa a ter trinta e duas das quarenta posições ocupadas, ou oitenta por cento. A interface confirma a alocação da SC-1042 e direciona ao acompanhamento. As demais áreas mantêm a ocupação do cenário inicial.</a:t>
            </a:r>
          </a:p>
          <a:p/>
          <a:p>
            <a:r>
              <a:t>Exceção | Capacidade excedida</a:t>
            </a:r>
          </a:p>
          <a:p>
            <a:r>
              <a:t>Este é o cenário alternativo de erro. A Consolidação tem uma posição livre, mas a carga necessita de quatro. Faltam três posições e a operação é bloqueada, preservando a ocupação. O operador deve escolher outra área ou aguardar espaço. Não houve alocação parcial.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Acompanhamento | Em separação</a:t>
            </a:r>
          </a:p>
          <a:p>
            <a:r>
              <a:t>A linha do tempo indica que a carga foi recebida e está em separação. O histórico inclui o início do processamento e a confirmação da alocação. O operador pode avançar para a próxima etapa permitida. A consulta do histórico dá rastreabilidade à movimentação.</a:t>
            </a:r>
          </a:p>
          <a:p/>
          <a:p>
            <a:r>
              <a:t>Exceção | Transição não permitida</a:t>
            </a:r>
          </a:p>
          <a:p>
            <a:r>
              <a:t>Este estado demonstra a proteção da sequência operacional. Não é permitido saltar diretamente para uma etapa posterior. A carga deve passar por Recebida, Em separação, Consolidada e Pronta para embarque. O bloqueio explica o motivo e oferece retorno ao acompanhamento; no protótipo, o retorno leva aos detalhes iniciais.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Acompanhamento | Consolidada</a:t>
            </a:r>
          </a:p>
          <a:p>
            <a:r>
              <a:t>A carga avança para Consolidada e recebe um novo registro às dez e dezessete. A linha do tempo torna o progresso visível. O card de área ainda exibe Separação porque o protótipo não simula transferências físicas entre áreas. Status do processo e posição alocada são informações distintas neste cenário.</a:t>
            </a:r>
          </a:p>
          <a:p/>
          <a:p>
            <a:r>
              <a:t>Acompanhamento | Pronta para embarque</a:t>
            </a:r>
          </a:p>
          <a:p>
            <a:r>
              <a:t>Às dez e vinte e sete, a carga está pronta para embarque e todas as etapas estão registradas. Isso conclui o escopo de processamento apresentado. Não significa que a aeronave decolou ou que houve entrega ao destinatário. A liberação de posições não foi simulada automaticamente.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Resultado da operação</a:t>
            </a:r>
          </a:p>
          <a:p>
            <a:r>
              <a:t>A operação termina em vinte e sete minutos, contra um prazo inicial de vinte. O atraso efetivo é de sete minutos. A carga deixa a lista de críticas ativas por estar pronta, mas a ocorrência não desaparece. O resultado demonstra rastreabilidade; não comprova que a solução eliminou atrasos.</a:t>
            </a:r>
          </a:p>
          <a:p/>
          <a:p>
            <a:r>
              <a:t>Relatórios após a conclusão</a:t>
            </a:r>
          </a:p>
          <a:p>
            <a:r>
              <a:t>Com a SC-1042 concluída em atraso, a base histórica passa a cento e uma cargas e continua com noventa e duas no prazo. Por isso, o percentual cai para noventa e um vírgula um por cento. A ocupação média sobe para oitenta e cinco por cento. A média de trinta e um minutos é ilustrativa e não é derivável da base exibida; precisará ser recalculada com dados completos na implementação.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Relatórios operacionais</a:t>
            </a:r>
          </a:p>
          <a:p>
            <a:r>
              <a:t>O relatório inicial apresenta a base histórica simulada: cem cargas concluídas, das quais noventa e duas no prazo. A ocupação média inicial das quatro áreas é de oitenta e dois vírgula cinco por cento. Os gráficos e ocorrências contextualizam a operação, mas são dados ilustrativos do protótipo.</a:t>
            </a:r>
          </a:p>
          <a:p/>
          <a:p>
            <a:r>
              <a:t>Relatório do turno</a:t>
            </a:r>
          </a:p>
          <a:p>
            <a:r>
              <a:t>O filtro de turno mostra as quatro cargas do conjunto inicial, com peso total de mil cento e setenta quilos. Uma carga está pronta e uma é crítica. Este recorte não deve ser confundido com a base histórica de cem cargas. Na navegação do protótipo, o filtro abre um estado pré-definido.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uma apresentação curta, siga este caminho e abra os cenários de exceção apenas quando necessário. Use os botões da jornada, pois o menu pode retornar aos estados iniciais. Cadastro e tentativa de alocação na Consolidação são ramos alternativos.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material enviado contém imagens exportadas. A apresentação explica esses estados sem verificar a navegação do arquivo Figma. Regras e dados são simulados. A SC-1042 termina com sete minutos de atraso; concluída não significa no prazo. Precisamos integrar estados, ajustar indicadores e testar com operadores antes de afirmar ganhos reais.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briefing apresenta o desafio de reduzir atrasos e melhorar a eficiência sem ampliar a área física. Partimos da hipótese de que falta de visibilidade compartilhada e decisões desconectadas podem dificultar a priorização. Não realizamos entrevistas nem medimos a operação real da Azul. Estas causas e impactos devem ser investigados no diagnóstico com operadores e gestores.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perfis são propostos para orientar a descoberta, não personas validadas. O operador usa a ferramenta no dia a dia. O supervisor coordena exceções, capacidade e equipes. O gestor acompanha desempenho e pode patrocinar o piloto. Aprovação, orçamento e responsabilidades precisam ser confirmados com a organização.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valor proposto é conectar prioridade, capacidade e execução. A classificação por margem é uma regra transparente, não um modelo de inteligência artificial. O operador continua responsável pelas decisões. O diferencial apresentado é a combinação das informações em uma mesma jornada, e não uma comparação comprovada com os sistemas atualmente utilizados pela Azul.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coluna de risco representa uma situação hipotética de baixa visibilidade, não uma afirmação sobre o modo como a Azul trabalha. O piloto deve verificar se a equipe hoje enfrenta essas dificuldades e se a proposta melhora a decisão. O valor só se confirma quando o uso real muda os indicadores sem criar novos gargalos.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benefícios são hipóteses. A fila pode reduzir espera das urgentes; o bloqueio de capacidade pode reduzir alocações inadequadas; o histórico pode reduzir tempo gasto procurando informações. Nenhum percentual de ganho foi medido. Mesmo uma carga concluída pode terminar em atraso, como ocorre com a SC-1042.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do piloto, definir os eventos e timestamps: recebida, início de separação, consolidada e pronta. Pontualidade compara o instante pronta com o prazo acordado. O tempo médio usa a mesma janela e as mesmas regras para todos os registros. Ocupação deve ser acompanhada ao longo do turno, e não só em uma captura de tela. Metas numéricas serão acordadas após medir a linha de base. Os indicadores do protótipo são fictícios e não servem como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há informação validada de orçamento, custos ou volume financeiro. O modelo é de uso interno: não presumimos receita de assinatura. Estimar horas efetivamente economizadas, verificar se são convertidas em capacidade ou redução de custo, e evitar contar o mesmo ganho duas vezes. ROI é benefícios menos custos dividido pelos custos no mesmo período. Se houver ganhos anuais e investimento inicial, o payback depende do fluxo líquido; só calcular após validar valores e recorrência.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Primeiro observar o processo e entrevistar operadores e gestores, definindo indicadores e linha de base. Depois testar usabilidade com cenários de carga crítica, capacidade excedida e sequência inválida. O piloto operacional deve ter um recorte de área ou turno, dados confiáveis e comparação controlada por perfil de carga. Sem melhora sustentada e sem aceitação dos operadores, revisar antes de expandir. Critérios e metas precisam ser acordados, não inventados nesta apresentação.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MVP inclui cadastro, consulta, fila por margem, capacidade e acompanhamento. A implementação pode começar com HTML, CSS, JavaScript e Tailwind e dados simulados; persistência, perfis, auditoria e integrações exigem definição adicional antes de uso operacional. Capacidade e estimativas precisam ser confiáveis. Não estamos prometendo previsão com IA, otimização automática de toda a operação ou ampliação física.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VISÃO 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01 /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504613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400" b="1">
                <a:solidFill>
                  <a:srgbClr val="43CEEF"/>
                </a:solidFill>
                <a:latin typeface="Aptos"/>
              </a:defRPr>
            </a:pPr>
            <a:r>
              <a:t>VIRACOPOS  /  GESTÃO DE CARGAS AÉREAS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94560"/>
            <a:ext cx="82296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4900" b="1">
                <a:solidFill>
                  <a:srgbClr val="FFFFFF"/>
                </a:solidFill>
                <a:latin typeface="Aptos"/>
              </a:defRPr>
            </a:pPr>
            <a:r>
              <a:t>Cada carga.</a:t>
            </a:r>
          </a:p>
          <a:p>
            <a:pPr>
              <a:spcAft>
                <a:spcPts val="900"/>
              </a:spcAft>
              <a:defRPr sz="4900" b="1">
                <a:solidFill>
                  <a:srgbClr val="FFFFFF"/>
                </a:solidFill>
                <a:latin typeface="Aptos"/>
              </a:defRPr>
            </a:pPr>
            <a:r>
              <a:t>Uma decisão melhor.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65836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300" b="0">
                <a:solidFill>
                  <a:srgbClr val="A6BDCF"/>
                </a:solidFill>
                <a:latin typeface="Aptos"/>
              </a:defRPr>
            </a:pPr>
            <a:r>
              <a:t>Prioridade, capacidade e acompanhamento</a:t>
            </a:r>
          </a:p>
          <a:p>
            <a:pPr>
              <a:spcAft>
                <a:spcPts val="900"/>
              </a:spcAft>
              <a:defRPr sz="2300" b="0">
                <a:solidFill>
                  <a:srgbClr val="A6BDCF"/>
                </a:solidFill>
                <a:latin typeface="Aptos"/>
              </a:defRPr>
            </a:pPr>
            <a:r>
              <a:t>em uma única jornada operacional.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26880" y="2103120"/>
            <a:ext cx="2926080" cy="36576"/>
          </a:xfrm>
          <a:prstGeom prst="rect">
            <a:avLst/>
          </a:prstGeom>
          <a:solidFill>
            <a:srgbClr val="256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207240" y="2103120"/>
            <a:ext cx="36576" cy="2651760"/>
          </a:xfrm>
          <a:prstGeom prst="rect">
            <a:avLst/>
          </a:prstGeom>
          <a:solidFill>
            <a:srgbClr val="256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26880" y="4709160"/>
            <a:ext cx="2926080" cy="36576"/>
          </a:xfrm>
          <a:prstGeom prst="rect">
            <a:avLst/>
          </a:prstGeom>
          <a:solidFill>
            <a:srgbClr val="256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26880" y="4709160"/>
            <a:ext cx="36576" cy="1005840"/>
          </a:xfrm>
          <a:prstGeom prst="rect">
            <a:avLst/>
          </a:prstGeom>
          <a:solidFill>
            <a:srgbClr val="2560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86800" y="173736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0F3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3104" y="1856231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2011679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FFFFFF"/>
                </a:solidFill>
                <a:latin typeface="Aptos"/>
              </a:defRPr>
            </a:pPr>
            <a:r>
              <a:t>PRIORIZAR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21440" y="438912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0F3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67744" y="450799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0" y="46634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FFFFFF"/>
                </a:solidFill>
                <a:latin typeface="Aptos"/>
              </a:defRPr>
            </a:pPr>
            <a:r>
              <a:t>ALOCAR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0" y="5577840"/>
            <a:ext cx="2514600" cy="868680"/>
          </a:xfrm>
          <a:prstGeom prst="roundRect">
            <a:avLst>
              <a:gd name="adj" fmla="val 10000"/>
            </a:avLst>
          </a:prstGeom>
          <a:solidFill>
            <a:srgbClr val="0F36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33104" y="569671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5852159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FFFFFF"/>
                </a:solidFill>
                <a:latin typeface="Aptos"/>
              </a:defRPr>
            </a:pPr>
            <a:r>
              <a:t>ACOMPANHAR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02 /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1009226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20"/>
            <a:ext cx="12801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600" b="1">
                <a:solidFill>
                  <a:srgbClr val="FFFFFF"/>
                </a:solidFill>
                <a:latin typeface="Aptos"/>
              </a:defRPr>
            </a:pPr>
            <a:r>
              <a:t>Mais eficiência no espaço que já existe.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86000"/>
            <a:ext cx="11887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200" b="0">
                <a:solidFill>
                  <a:srgbClr val="A6BDCF"/>
                </a:solidFill>
                <a:latin typeface="Aptos"/>
              </a:defRPr>
            </a:pPr>
            <a:r>
              <a:t>A proposta conecta três decisões do operador no terminal de Viracopos.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566160"/>
            <a:ext cx="4251960" cy="3291840"/>
          </a:xfrm>
          <a:prstGeom prst="roundRect">
            <a:avLst>
              <a:gd name="adj" fmla="val 10000"/>
            </a:avLst>
          </a:prstGeom>
          <a:solidFill>
            <a:srgbClr val="0F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9476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617720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O que tratar primeiro?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3703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100" b="0">
                <a:solidFill>
                  <a:srgbClr val="A6BDCF"/>
                </a:solidFill>
                <a:latin typeface="Aptos"/>
              </a:defRPr>
            </a:pPr>
            <a:r>
              <a:t>Prioridade calculada pela margem entre prazo e estimativa.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3566160"/>
            <a:ext cx="4251960" cy="3291840"/>
          </a:xfrm>
          <a:prstGeom prst="roundRect">
            <a:avLst>
              <a:gd name="adj" fmla="val 10000"/>
            </a:avLst>
          </a:prstGeom>
          <a:solidFill>
            <a:srgbClr val="0F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0" y="379476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4617720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Onde alocar?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5532120"/>
            <a:ext cx="3703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100" b="0">
                <a:solidFill>
                  <a:srgbClr val="A6BDCF"/>
                </a:solidFill>
                <a:latin typeface="Aptos"/>
              </a:defRPr>
            </a:pPr>
            <a:r>
              <a:t>Visibilidade de ocupação para respeitar o limite das áreas.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29800" y="3566160"/>
            <a:ext cx="4251960" cy="3291840"/>
          </a:xfrm>
          <a:prstGeom prst="roundRect">
            <a:avLst>
              <a:gd name="adj" fmla="val 10000"/>
            </a:avLst>
          </a:prstGeom>
          <a:solidFill>
            <a:srgbClr val="0F3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0" y="379476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2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4617720"/>
            <a:ext cx="374903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400" b="1">
                <a:solidFill>
                  <a:srgbClr val="FFFFFF"/>
                </a:solidFill>
                <a:latin typeface="Aptos"/>
              </a:defRPr>
            </a:pPr>
            <a:r>
              <a:t>Em que etapa está?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5532120"/>
            <a:ext cx="37033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100" b="0">
                <a:solidFill>
                  <a:srgbClr val="A6BDCF"/>
                </a:solidFill>
                <a:latin typeface="Aptos"/>
              </a:defRPr>
            </a:pPr>
            <a:r>
              <a:t>Acompanhamento sequencial com histórico e ocorrências.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3258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t>O problema que o negócio precisa resolver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12984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A6BDCF"/>
                </a:solidFill>
                <a:latin typeface="Aptos"/>
              </a:defRPr>
            </a:pPr>
            <a:r>
              <a:t>Atrasos e restrições de espaço exigem decisões coordenadas no terminal.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HIPÓTESES DE NEGÓCIO A VALIDAR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566160"/>
            <a:ext cx="425196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Urgência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37490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6BDCF"/>
                </a:solidFill>
                <a:latin typeface="Aptos"/>
              </a:defRPr>
            </a:pPr>
            <a:r>
              <a:t>Identificar quais cargas têm menos tempo para completar o processo.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3566160"/>
            <a:ext cx="425196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37947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Espaço limitado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5577840"/>
            <a:ext cx="37490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6BDCF"/>
                </a:solidFill>
                <a:latin typeface="Aptos"/>
              </a:defRPr>
            </a:pPr>
            <a:r>
              <a:t>Distribuir cargas respeitando a capacidade disponível de cada área.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9800" y="3566160"/>
            <a:ext cx="425196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0" y="37947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45720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Impacto esperado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5577840"/>
            <a:ext cx="37490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6BDCF"/>
                </a:solidFill>
                <a:latin typeface="Aptos"/>
              </a:defRPr>
            </a:pPr>
            <a:r>
              <a:t>Evitar esperas e retrabalho e melhorar o cumprimento dos prazos.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03 / 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8156448"/>
            <a:ext cx="1513840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3258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t>Quem usa e quem decide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12984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A6BDCF"/>
                </a:solidFill>
                <a:latin typeface="Aptos"/>
              </a:defRPr>
            </a:pPr>
            <a:r>
              <a:t>A solução é proposta para uso interno na operação logística de Viracopos.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HIPÓTESES DE NEGÓCIO A VALIDAR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566160"/>
            <a:ext cx="425196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Operador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37490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6BDCF"/>
                </a:solidFill>
                <a:latin typeface="Aptos"/>
              </a:defRPr>
            </a:pPr>
            <a:r>
              <a:t>Consulta a fila, aloca posições e registra o avanço de cada carga.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3566160"/>
            <a:ext cx="425196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37947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Supervisor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5577840"/>
            <a:ext cx="37490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6BDCF"/>
                </a:solidFill>
                <a:latin typeface="Aptos"/>
              </a:defRPr>
            </a:pPr>
            <a:r>
              <a:t>Trata exceções e acompanha gargalos e ocupação durante o turno.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9800" y="3566160"/>
            <a:ext cx="425196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0" y="37947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45720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Gestor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5577840"/>
            <a:ext cx="37490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6BDCF"/>
                </a:solidFill>
                <a:latin typeface="Aptos"/>
              </a:defRPr>
            </a:pPr>
            <a:r>
              <a:t>Avalia indicadores, custos e resultados para decidir sobre expansão.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04 / 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8156448"/>
            <a:ext cx="2018453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3258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t>Proposta de valor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12984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A6BDCF"/>
                </a:solidFill>
                <a:latin typeface="Aptos"/>
              </a:defRPr>
            </a:pPr>
            <a:r>
              <a:t>Apoiar a decisão certa, no momento certo, com o espaço disponível.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HIPÓTESES DE NEGÓCIO A VALIDAR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566160"/>
            <a:ext cx="425196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Prioridade explicável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37490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6BDCF"/>
                </a:solidFill>
                <a:latin typeface="Aptos"/>
              </a:defRPr>
            </a:pPr>
            <a:r>
              <a:t>Prazo menos estimativa define a urgência e mostra sua justificativa.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3566160"/>
            <a:ext cx="425196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37947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Capacidade visível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5577840"/>
            <a:ext cx="37490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6BDCF"/>
                </a:solidFill>
                <a:latin typeface="Aptos"/>
              </a:defRPr>
            </a:pPr>
            <a:r>
              <a:t>O operador simula a alocação antes de ocupar posições.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9800" y="3566160"/>
            <a:ext cx="425196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0" y="37947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45720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Rastreabilidade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5577840"/>
            <a:ext cx="37490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6BDCF"/>
                </a:solidFill>
                <a:latin typeface="Aptos"/>
              </a:defRPr>
            </a:pPr>
            <a:r>
              <a:t>Etapas, responsáveis e ocorrências compõem o histórico operacional.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05 / 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8156448"/>
            <a:ext cx="2523066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3258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t>Como a proposta muda a decisão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12984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A6BDCF"/>
                </a:solidFill>
                <a:latin typeface="Aptos"/>
              </a:defRPr>
            </a:pPr>
            <a:r>
              <a:t>Comparação conceitual para validar em campo; não é um diagnóstico do processo atual.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HIPÓTESES DE NEGÓCIO A VALIDAR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429000"/>
            <a:ext cx="6035040" cy="9601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06640" y="3429000"/>
            <a:ext cx="6492240" cy="9601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30168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A6BDCF"/>
                </a:solidFill>
                <a:latin typeface="Aptos"/>
              </a:defRPr>
            </a:pPr>
            <a:r>
              <a:t>Urgência pouco visível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3720" y="363016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600" b="1">
                <a:solidFill>
                  <a:srgbClr val="43CEEF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0168"/>
            <a:ext cx="6035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FFFFF"/>
                </a:solidFill>
                <a:latin typeface="Aptos"/>
              </a:defRPr>
            </a:pPr>
            <a:r>
              <a:t>Fila com margem e justificativa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663440"/>
            <a:ext cx="6035040" cy="9601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06640" y="4663440"/>
            <a:ext cx="6492240" cy="9601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64607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A6BDCF"/>
                </a:solidFill>
                <a:latin typeface="Aptos"/>
              </a:defRPr>
            </a:pPr>
            <a:r>
              <a:t>Espaço verificado tardiamente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486460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600" b="1">
                <a:solidFill>
                  <a:srgbClr val="43CEEF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4864607"/>
            <a:ext cx="6035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FFFFF"/>
                </a:solidFill>
                <a:latin typeface="Aptos"/>
              </a:defRPr>
            </a:pPr>
            <a:r>
              <a:t>Simulação antes da alocação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5897880"/>
            <a:ext cx="6035040" cy="9601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06640" y="5897880"/>
            <a:ext cx="6492240" cy="9601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6099048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0">
                <a:solidFill>
                  <a:srgbClr val="A6BDCF"/>
                </a:solidFill>
                <a:latin typeface="Aptos"/>
              </a:defRPr>
            </a:pPr>
            <a:r>
              <a:t>Etapas sem visão compartilhada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609904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600" b="1">
                <a:solidFill>
                  <a:srgbClr val="43CEEF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35240" y="6099048"/>
            <a:ext cx="6035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FFFFFF"/>
                </a:solidFill>
                <a:latin typeface="Aptos"/>
              </a:defRPr>
            </a:pPr>
            <a:r>
              <a:t>Linha do tempo e histórico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7269480"/>
            <a:ext cx="11887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43CEEF"/>
                </a:solidFill>
                <a:latin typeface="Aptos"/>
              </a:defRPr>
            </a:pPr>
            <a:r>
              <a:t>RISCO HIPOTÉTICO                                         DECISÃO APOIADA PELO SMARTCARGO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06 / 27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8156448"/>
            <a:ext cx="3027680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3258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t>Benefícios esperados e seus mecanismos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12984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A6BDCF"/>
                </a:solidFill>
                <a:latin typeface="Aptos"/>
              </a:defRPr>
            </a:pPr>
            <a:r>
              <a:t>Cada benefício precisa ser associado a uma mudança observável na operação.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HIPÓTESES DE NEGÓCIO A VALIDAR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566160"/>
            <a:ext cx="425196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Mais pontualidade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37490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6BDCF"/>
                </a:solidFill>
                <a:latin typeface="Aptos"/>
              </a:defRPr>
            </a:pPr>
            <a:r>
              <a:t>Priorizar menor margem pode reduzir a espera de cargas urgentes.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3566160"/>
            <a:ext cx="425196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37947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Melhor uso do espaço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5577840"/>
            <a:ext cx="37490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6BDCF"/>
                </a:solidFill>
                <a:latin typeface="Aptos"/>
              </a:defRPr>
            </a:pPr>
            <a:r>
              <a:t>Simular e bloquear excessos pode evitar movimentações desnecessárias.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9800" y="3566160"/>
            <a:ext cx="425196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0" y="37947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45720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Mais previsibilidade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5577840"/>
            <a:ext cx="37490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6BDCF"/>
                </a:solidFill>
                <a:latin typeface="Aptos"/>
              </a:defRPr>
            </a:pPr>
            <a:r>
              <a:t>Etapas registradas facilitam localizar pendências e tratar exceções.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07 / 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8156448"/>
            <a:ext cx="3532293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3258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t>Como medir se a solução funciona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12984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A6BDCF"/>
                </a:solidFill>
                <a:latin typeface="Aptos"/>
              </a:defRPr>
            </a:pPr>
            <a:r>
              <a:t>Coletar uma linha de base e comparar turnos com perfil operacional semelhante.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HIPÓTESES DE NEGÓCIO A VALIDAR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337560"/>
            <a:ext cx="13258800" cy="68580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0215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Aptos"/>
              </a:defRPr>
            </a:pPr>
            <a:r>
              <a:t>Pontualidade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3502152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A6BDCF"/>
                </a:solidFill>
                <a:latin typeface="Aptos"/>
              </a:defRPr>
            </a:pPr>
            <a:r>
              <a:t>Concluídas no prazo ÷ concluídas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3502152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43CEEF"/>
                </a:solidFill>
                <a:latin typeface="Aptos"/>
              </a:defRPr>
            </a:pPr>
            <a:r>
              <a:t>Aumentar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169663"/>
            <a:ext cx="13258800" cy="68580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34255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Aptos"/>
              </a:defRPr>
            </a:pPr>
            <a:r>
              <a:t>Tempo de processamento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4334255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A6BDCF"/>
                </a:solidFill>
                <a:latin typeface="Aptos"/>
              </a:defRPr>
            </a:pPr>
            <a:r>
              <a:t>Média de pronta − recebida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4334255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43CEEF"/>
                </a:solidFill>
                <a:latin typeface="Aptos"/>
              </a:defRPr>
            </a:pPr>
            <a:r>
              <a:t>Reduzir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5001768"/>
            <a:ext cx="13258800" cy="68580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66359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Aptos"/>
              </a:defRPr>
            </a:pPr>
            <a:r>
              <a:t>Ocupação das áreas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5166359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A6BDCF"/>
                </a:solidFill>
                <a:latin typeface="Aptos"/>
              </a:defRPr>
            </a:pPr>
            <a:r>
              <a:t>Posições ocupadas ÷ capacidade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5166359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43CEEF"/>
                </a:solidFill>
                <a:latin typeface="Aptos"/>
              </a:defRPr>
            </a:pPr>
            <a:r>
              <a:t>Evitar saturação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833872"/>
            <a:ext cx="13258800" cy="68580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998464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FFFFFF"/>
                </a:solidFill>
                <a:latin typeface="Aptos"/>
              </a:defRPr>
            </a:pPr>
            <a:r>
              <a:t>Críticas ativas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5998464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A6BDCF"/>
                </a:solidFill>
                <a:latin typeface="Aptos"/>
              </a:defRPr>
            </a:pPr>
            <a:r>
              <a:t>Quantidade com margem negativa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5998464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43CEEF"/>
                </a:solidFill>
                <a:latin typeface="Aptos"/>
              </a:defRPr>
            </a:pPr>
            <a:r>
              <a:t>Reduzir pendências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995160"/>
            <a:ext cx="12801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A6BDCF"/>
                </a:solidFill>
                <a:latin typeface="Aptos"/>
              </a:defRPr>
            </a:pPr>
            <a:r>
              <a:t>Metas a pactuar após a linha de base. Volume, destino, peso e turno devem ser considerados.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08 / 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8156448"/>
            <a:ext cx="4036906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3258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t>Viabilidade e retorno do investimento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12984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A6BDCF"/>
                </a:solidFill>
                <a:latin typeface="Aptos"/>
              </a:defRPr>
            </a:pPr>
            <a:r>
              <a:t>Modelo de eficiência interna: o valor deve superar implantação e manutenção.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HIPÓTESES DE NEGÓCIO A VALIDAR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474720"/>
            <a:ext cx="640080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49039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43CEEF"/>
                </a:solidFill>
                <a:latin typeface="Aptos"/>
              </a:defRPr>
            </a:pPr>
            <a:r>
              <a:t>VALOR A ESTIMAR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34840"/>
            <a:ext cx="585216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FFFFFF"/>
                </a:solidFill>
                <a:latin typeface="Aptos"/>
              </a:defRPr>
            </a:pPr>
            <a:r>
              <a:t>Horas poupadas × custo/hora</a:t>
            </a:r>
          </a:p>
          <a:p>
            <a:pPr>
              <a:spcAft>
                <a:spcPts val="1000"/>
              </a:spcAft>
              <a:defRPr sz="2500" b="1">
                <a:solidFill>
                  <a:srgbClr val="FFFFFF"/>
                </a:solidFill>
                <a:latin typeface="Aptos"/>
              </a:defRPr>
            </a:pPr>
            <a:r>
              <a:t>+ custos evitados comprovados</a:t>
            </a:r>
          </a:p>
          <a:p>
            <a:pPr>
              <a:spcAft>
                <a:spcPts val="1000"/>
              </a:spcAft>
              <a:defRPr sz="2500" b="1">
                <a:solidFill>
                  <a:srgbClr val="FFFFFF"/>
                </a:solidFill>
                <a:latin typeface="Aptos"/>
              </a:defRPr>
            </a:pPr>
            <a:r>
              <a:t>− custos operacionais adicionais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3474720"/>
            <a:ext cx="649224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3749039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43CEEF"/>
                </a:solidFill>
                <a:latin typeface="Aptos"/>
              </a:defRPr>
            </a:pPr>
            <a:r>
              <a:t>CUSTOS A LEVANTAR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4434840"/>
            <a:ext cx="5760720" cy="2057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500" b="1">
                <a:solidFill>
                  <a:srgbClr val="FFFFFF"/>
                </a:solidFill>
                <a:latin typeface="Aptos"/>
              </a:defRPr>
            </a:pPr>
            <a:r>
              <a:t>Desenvolvimento e integração</a:t>
            </a:r>
          </a:p>
          <a:p>
            <a:pPr>
              <a:spcAft>
                <a:spcPts val="1000"/>
              </a:spcAft>
              <a:defRPr sz="2500" b="1">
                <a:solidFill>
                  <a:srgbClr val="FFFFFF"/>
                </a:solidFill>
                <a:latin typeface="Aptos"/>
              </a:defRPr>
            </a:pPr>
            <a:r>
              <a:t>Infraestrutura e suporte</a:t>
            </a:r>
          </a:p>
          <a:p>
            <a:pPr>
              <a:spcAft>
                <a:spcPts val="1000"/>
              </a:spcAft>
              <a:defRPr sz="2500" b="1">
                <a:solidFill>
                  <a:srgbClr val="FFFFFF"/>
                </a:solidFill>
                <a:latin typeface="Aptos"/>
              </a:defRPr>
            </a:pPr>
            <a:r>
              <a:t>Treinamento e adoção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7223760"/>
            <a:ext cx="1280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A6BDCF"/>
                </a:solidFill>
                <a:latin typeface="Aptos"/>
              </a:defRPr>
            </a:pPr>
            <a:r>
              <a:t>ROI = (benefícios monetizados − custos totais) ÷ custos totais, no mesmo período.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09 / 27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8156448"/>
            <a:ext cx="4541520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3258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t>Plano de validação do piloto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12984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A6BDCF"/>
                </a:solidFill>
                <a:latin typeface="Aptos"/>
              </a:defRPr>
            </a:pPr>
            <a:r>
              <a:t>Proposta de implantação gradual, condicionada ao alinhamento com a operação.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HIPÓTESES DE NEGÓCIO A VALIDAR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566160"/>
            <a:ext cx="425196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Diagnosticar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37490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6BDCF"/>
                </a:solidFill>
                <a:latin typeface="Aptos"/>
              </a:defRPr>
            </a:pPr>
            <a:r>
              <a:t>Observar a operação, ouvir usuários e medir a linha de base.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3566160"/>
            <a:ext cx="425196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37947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Experimentar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5577840"/>
            <a:ext cx="37490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6BDCF"/>
                </a:solidFill>
                <a:latin typeface="Aptos"/>
              </a:defRPr>
            </a:pPr>
            <a:r>
              <a:t>Testar a interface e executar um piloto em área ou turno delimitado.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9800" y="3566160"/>
            <a:ext cx="425196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0" y="37947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45720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Decidir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5577840"/>
            <a:ext cx="37490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6BDCF"/>
                </a:solidFill>
                <a:latin typeface="Aptos"/>
              </a:defRPr>
            </a:pPr>
            <a:r>
              <a:t>Comparar indicadores e adoção; ajustar antes de ampliar o uso.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10 / 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8156448"/>
            <a:ext cx="5046133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3258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3400" b="1">
                <a:solidFill>
                  <a:srgbClr val="FFFFFF"/>
                </a:solidFill>
                <a:latin typeface="Aptos"/>
              </a:defRPr>
            </a:pPr>
            <a:r>
              <a:t>MVP, dependências e limites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12984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100" b="0">
                <a:solidFill>
                  <a:srgbClr val="A6BDCF"/>
                </a:solidFill>
                <a:latin typeface="Aptos"/>
              </a:defRPr>
            </a:pPr>
            <a:r>
              <a:t>Um escopo enxuto para testar valor antes de ampliar a solução.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HIPÓTESES DE NEGÓCIO A VALIDAR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566160"/>
            <a:ext cx="425196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MVP proposto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37490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6BDCF"/>
                </a:solidFill>
                <a:latin typeface="Aptos"/>
              </a:defRPr>
            </a:pPr>
            <a:r>
              <a:t>Cadastro, fila, simulação de capacidade, etapas e indicadores básicos.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57800" y="3566160"/>
            <a:ext cx="425196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37947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Dependências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5577840"/>
            <a:ext cx="37490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6BDCF"/>
                </a:solidFill>
                <a:latin typeface="Aptos"/>
              </a:defRPr>
            </a:pPr>
            <a:r>
              <a:t>Estimativas confiáveis, capacidade atualizada e regras acordadas.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29800" y="3566160"/>
            <a:ext cx="4251960" cy="3474720"/>
          </a:xfrm>
          <a:prstGeom prst="roundRect">
            <a:avLst>
              <a:gd name="adj" fmla="val 8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0" y="3794760"/>
            <a:ext cx="914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9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4572000"/>
            <a:ext cx="3749039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300" b="1">
                <a:solidFill>
                  <a:srgbClr val="FFFFFF"/>
                </a:solidFill>
                <a:latin typeface="Aptos"/>
              </a:defRPr>
            </a:pPr>
            <a:r>
              <a:t>Evolução condicionada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5577840"/>
            <a:ext cx="3749039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A6BDCF"/>
                </a:solidFill>
                <a:latin typeface="Aptos"/>
              </a:defRPr>
            </a:pPr>
            <a:r>
              <a:t>Integrar dados e permissões após validar usabilidade e valor no piloto.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11 / 27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8156448"/>
            <a:ext cx="5550746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78992"/>
            <a:ext cx="13441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Entrada e visão geral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Login / Acesso à operação</a:t>
            </a:r>
          </a:p>
        </p:txBody>
      </p:sp>
      <p:pic>
        <p:nvPicPr>
          <p:cNvPr id="7" name="Picture 6" descr="login • Acesso à operaçã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606040"/>
            <a:ext cx="6537960" cy="4086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Identificar o operador e apresentar o sistema.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Dashboard operacional</a:t>
            </a:r>
          </a:p>
        </p:txBody>
      </p:sp>
      <p:pic>
        <p:nvPicPr>
          <p:cNvPr id="10" name="Picture 9" descr="dashboard • Dashboard operacio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606040"/>
            <a:ext cx="6537960" cy="40862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Transformar dados do terminal em prioridades de ação.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TELAS AGRUPADAS   /   DADOS SIMULADOS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12 / 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156448"/>
            <a:ext cx="6055360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78992"/>
            <a:ext cx="13441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Alertas e localização de cargas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Central de notificações</a:t>
            </a:r>
          </a:p>
        </p:txBody>
      </p:sp>
      <p:pic>
        <p:nvPicPr>
          <p:cNvPr id="7" name="Picture 6" descr="avisos • Central de notificaçõ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606040"/>
            <a:ext cx="6537960" cy="4086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Reunir situações que exigem atenção.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Resultado da busca</a:t>
            </a:r>
          </a:p>
        </p:txBody>
      </p:sp>
      <p:pic>
        <p:nvPicPr>
          <p:cNvPr id="10" name="Picture 9" descr="busca • Resultado da bus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606040"/>
            <a:ext cx="6537960" cy="40862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Encontrar rapidamente a carga relevante.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TELAS AGRUPADAS   /   DADOS SIMULADOS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13 / 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156448"/>
            <a:ext cx="6559973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78992"/>
            <a:ext cx="13441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Gestão e cadastro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Gestão de cargas</a:t>
            </a:r>
          </a:p>
        </p:txBody>
      </p:sp>
      <p:pic>
        <p:nvPicPr>
          <p:cNvPr id="7" name="Picture 6" descr="cargas • Gestão de carg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606040"/>
            <a:ext cx="6537960" cy="4086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Centralizar consulta e manutenção dos registros.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Cadastro de carga</a:t>
            </a:r>
          </a:p>
        </p:txBody>
      </p:sp>
      <p:pic>
        <p:nvPicPr>
          <p:cNvPr id="10" name="Picture 9" descr="cadastro • Cadastrar car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606040"/>
            <a:ext cx="6537960" cy="40862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Registrar os dados necessários ao planejamento.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TELAS AGRUPADAS   /   DADOS SIMULADOS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14 / 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156448"/>
            <a:ext cx="7064586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78992"/>
            <a:ext cx="13441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Validação e confirmação do cadastro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Validação do cadastro</a:t>
            </a:r>
          </a:p>
        </p:txBody>
      </p:sp>
      <p:pic>
        <p:nvPicPr>
          <p:cNvPr id="7" name="Picture 6" descr="validacao • Validação do cadas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606040"/>
            <a:ext cx="6537960" cy="4086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Evitar informações incompletas ou inválidas.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Cadastro concluído</a:t>
            </a:r>
          </a:p>
        </p:txBody>
      </p:sp>
      <p:pic>
        <p:nvPicPr>
          <p:cNvPr id="10" name="Picture 9" descr="cadastro-ok • Carga cadastr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606040"/>
            <a:ext cx="6537960" cy="40862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Confirmar o registro e sua classificação.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TELAS AGRUPADAS   /   DADOS SIMULADOS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15 / 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156448"/>
            <a:ext cx="7569200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78992"/>
            <a:ext cx="13441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Consulta e edição da carga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Detalhes da carga</a:t>
            </a:r>
          </a:p>
        </p:txBody>
      </p:sp>
      <p:pic>
        <p:nvPicPr>
          <p:cNvPr id="7" name="Picture 6" descr="detalhes • Detalhes • SC-1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606040"/>
            <a:ext cx="6537960" cy="4086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Oferecer uma visão individual e rastreável.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Edição da carga</a:t>
            </a:r>
          </a:p>
        </p:txBody>
      </p:sp>
      <p:pic>
        <p:nvPicPr>
          <p:cNvPr id="10" name="Picture 9" descr="editar • Editar SC-10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606040"/>
            <a:ext cx="6537960" cy="40862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Demonstrar a revisão dos dados operacionais.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TELAS AGRUPADAS   /   DADOS SIMULADOS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16 / 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156448"/>
            <a:ext cx="8073813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78992"/>
            <a:ext cx="13441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Priorização e carga crítica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Fila inteligente de priorização</a:t>
            </a:r>
          </a:p>
        </p:txBody>
      </p:sp>
      <p:pic>
        <p:nvPicPr>
          <p:cNvPr id="7" name="Picture 6" descr="fila • Fila inteligente de priorizaçã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606040"/>
            <a:ext cx="6537960" cy="4086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Ordenar a atenção segundo a margem de tempo.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Análise da carga crítica</a:t>
            </a:r>
          </a:p>
        </p:txBody>
      </p:sp>
      <p:pic>
        <p:nvPicPr>
          <p:cNvPr id="10" name="Picture 9" descr="analise • Análise • SC-10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606040"/>
            <a:ext cx="6537960" cy="40862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Explicar o risco antes de agir.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TELAS AGRUPADAS   /   DADOS SIMULADOS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17 / 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156448"/>
            <a:ext cx="8578426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78992"/>
            <a:ext cx="13441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Comparação de prioridades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Análise da prioridade alta</a:t>
            </a:r>
          </a:p>
        </p:txBody>
      </p:sp>
      <p:pic>
        <p:nvPicPr>
          <p:cNvPr id="7" name="Picture 6" descr="analise-alta • Análise • SC-10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606040"/>
            <a:ext cx="6537960" cy="4086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Mostrar uma carga com pouca folga.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Análise da prioridade normal</a:t>
            </a:r>
          </a:p>
        </p:txBody>
      </p:sp>
      <p:pic>
        <p:nvPicPr>
          <p:cNvPr id="10" name="Picture 9" descr="analise-normal • Análise • SC-10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606040"/>
            <a:ext cx="6537960" cy="40862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Demonstrar uma situação com margem maior.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TELAS AGRUPADAS   /   DADOS SIMULADOS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18 / 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156448"/>
            <a:ext cx="9083040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78992"/>
            <a:ext cx="13441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Confirmação e início do processamento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Confirmação do processamento</a:t>
            </a:r>
          </a:p>
        </p:txBody>
      </p:sp>
      <p:pic>
        <p:nvPicPr>
          <p:cNvPr id="7" name="Picture 6" descr="confirmar • Confirmar processam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606040"/>
            <a:ext cx="6537960" cy="4086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Garantir uma decisão consciente do operador.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Processamento iniciado</a:t>
            </a:r>
          </a:p>
        </p:txBody>
      </p:sp>
      <p:pic>
        <p:nvPicPr>
          <p:cNvPr id="10" name="Picture 9" descr="iniciado • Processamento inici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606040"/>
            <a:ext cx="6537960" cy="40862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Confirmar a ação e orientar o próximo passo.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TELAS AGRUPADAS   /   DADOS SIMULADOS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19 / 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156448"/>
            <a:ext cx="9587653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78992"/>
            <a:ext cx="13441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Capacidade e simulação de alocação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Capacidade operacional</a:t>
            </a:r>
          </a:p>
        </p:txBody>
      </p:sp>
      <p:pic>
        <p:nvPicPr>
          <p:cNvPr id="7" name="Picture 6" descr="capacidade • Capacidade oper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606040"/>
            <a:ext cx="6537960" cy="4086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Verificar espaço antes de alocar uma carga.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Simulação de alocação</a:t>
            </a:r>
          </a:p>
        </p:txBody>
      </p:sp>
      <p:pic>
        <p:nvPicPr>
          <p:cNvPr id="10" name="Picture 9" descr="simulacao • Simulação de alocaçã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606040"/>
            <a:ext cx="6537960" cy="40862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Antecipar o impacto sem reservar espaço.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TELAS AGRUPADAS   /   DADOS SIMULADOS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20 / 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156448"/>
            <a:ext cx="10092266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78992"/>
            <a:ext cx="13441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Alocação concluída e capacidade excedida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Alocação concluída</a:t>
            </a:r>
          </a:p>
        </p:txBody>
      </p:sp>
      <p:pic>
        <p:nvPicPr>
          <p:cNvPr id="7" name="Picture 6" descr="alocada • Capacidade oper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606040"/>
            <a:ext cx="6537960" cy="4086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Confirmar a ocupação e manter a jornada.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Exceção / Capacidade excedida</a:t>
            </a:r>
          </a:p>
        </p:txBody>
      </p:sp>
      <p:pic>
        <p:nvPicPr>
          <p:cNvPr id="10" name="Picture 9" descr="excedida • Capacidade exced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606040"/>
            <a:ext cx="6537960" cy="40862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Impedir uma alocação além do limite.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TELAS AGRUPADAS   /   DADOS SIMULADOS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21 / 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156448"/>
            <a:ext cx="10596880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78992"/>
            <a:ext cx="13441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Acompanhamento e proteção da sequência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Acompanhamento / Em separação</a:t>
            </a:r>
          </a:p>
        </p:txBody>
      </p:sp>
      <p:pic>
        <p:nvPicPr>
          <p:cNvPr id="7" name="Picture 6" descr="etapa1 • Detalhes • SC-1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606040"/>
            <a:ext cx="6537960" cy="4086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Mostrar o início da execução e seu registro.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Exceção / Transição não permitida</a:t>
            </a:r>
          </a:p>
        </p:txBody>
      </p:sp>
      <p:pic>
        <p:nvPicPr>
          <p:cNvPr id="10" name="Picture 9" descr="sequencia • Transição não permiti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606040"/>
            <a:ext cx="6537960" cy="40862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Preservar a ordem do processamento.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TELAS AGRUPADAS   /   DADOS SIMULADOS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22 / 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156448"/>
            <a:ext cx="11101493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78992"/>
            <a:ext cx="13441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Consolidação e preparo para embarque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Acompanhamento / Consolidada</a:t>
            </a:r>
          </a:p>
        </p:txBody>
      </p:sp>
      <p:pic>
        <p:nvPicPr>
          <p:cNvPr id="7" name="Picture 6" descr="etapa2 • Detalhes • SC-10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606040"/>
            <a:ext cx="6537960" cy="4086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Registrar o avanço intermediário.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Acompanhamento / Pronta para embarque</a:t>
            </a:r>
          </a:p>
        </p:txBody>
      </p:sp>
      <p:pic>
        <p:nvPicPr>
          <p:cNvPr id="10" name="Picture 9" descr="etapa3 • Detalhes • SC-10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606040"/>
            <a:ext cx="6537960" cy="40862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Concluir o escopo do processamento.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TELAS AGRUPADAS   /   DADOS SIMULADOS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23 / 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156448"/>
            <a:ext cx="11606106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78992"/>
            <a:ext cx="13441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Resultado e indicadores atualizados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Resultado da operação</a:t>
            </a:r>
          </a:p>
        </p:txBody>
      </p:sp>
      <p:pic>
        <p:nvPicPr>
          <p:cNvPr id="7" name="Picture 6" descr="resultado • Operação finaliz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606040"/>
            <a:ext cx="6537960" cy="4086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Apresentar o desfecho com transparência.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Relatórios após a conclusão</a:t>
            </a:r>
          </a:p>
        </p:txBody>
      </p:sp>
      <p:pic>
        <p:nvPicPr>
          <p:cNvPr id="10" name="Picture 9" descr="relatorios-final • Relatórios operaciona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606040"/>
            <a:ext cx="6537960" cy="40862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Registrar o impacto da carga finalizada.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TELAS AGRUPADAS   /   DADOS SIMULADOS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24 / 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156448"/>
            <a:ext cx="12110720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078992"/>
            <a:ext cx="134416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100" b="1">
                <a:solidFill>
                  <a:srgbClr val="FFFFFF"/>
                </a:solidFill>
                <a:latin typeface="Aptos"/>
              </a:defRPr>
            </a:pPr>
            <a:r>
              <a:t>Visão histórica e recorte por turno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Relatórios operacionais</a:t>
            </a:r>
          </a:p>
        </p:txBody>
      </p:sp>
      <p:pic>
        <p:nvPicPr>
          <p:cNvPr id="7" name="Picture 6" descr="relatorios • Relatórios operacion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606040"/>
            <a:ext cx="6537960" cy="4086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Estabelecer a visão histórica de desempenho.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1975104"/>
            <a:ext cx="6492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900" b="1">
                <a:solidFill>
                  <a:srgbClr val="43CEEF"/>
                </a:solidFill>
                <a:latin typeface="Aptos"/>
              </a:defRPr>
            </a:pPr>
            <a:r>
              <a:t>Relatório do turno</a:t>
            </a:r>
          </a:p>
        </p:txBody>
      </p:sp>
      <p:pic>
        <p:nvPicPr>
          <p:cNvPr id="10" name="Picture 9" descr="relatorios-turno • Relatório • turno 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2606040"/>
            <a:ext cx="6537960" cy="40862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98079" y="6903720"/>
            <a:ext cx="6492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0">
                <a:solidFill>
                  <a:srgbClr val="FFFFFF"/>
                </a:solidFill>
                <a:latin typeface="Aptos"/>
              </a:defRPr>
            </a:pPr>
            <a:r>
              <a:t>Consultar um recorte das cargas apresentadas.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7808975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TELAS AGRUPADAS   /   DADOS SIMULADOS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25 / 27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8156448"/>
            <a:ext cx="12615333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DEMONSTRAÇÃO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26 /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13119946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40"/>
            <a:ext cx="12801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800" b="1">
                <a:solidFill>
                  <a:srgbClr val="FFFFFF"/>
                </a:solidFill>
                <a:latin typeface="Aptos"/>
              </a:defRPr>
            </a:pPr>
            <a:r>
              <a:t>Da urgência ao resultado.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240280"/>
            <a:ext cx="12801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200" b="0">
                <a:solidFill>
                  <a:srgbClr val="A6BDCF"/>
                </a:solidFill>
                <a:latin typeface="Aptos"/>
              </a:defRPr>
            </a:pPr>
            <a:r>
              <a:t>Use este caminho para apresentar a jornada principal da SC-1042.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74720"/>
            <a:ext cx="2560320" cy="3108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368503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400" b="1">
                <a:solidFill>
                  <a:srgbClr val="43CEEF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6177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IDENTIFICAR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539496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Dashboard → Fila</a:t>
            </a:r>
          </a:p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Analisar risco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1568" y="3474720"/>
            <a:ext cx="2560320" cy="3108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368503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400" b="1">
                <a:solidFill>
                  <a:srgbClr val="43CEEF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46177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DECIDIR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539496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Confirmar início</a:t>
            </a:r>
          </a:p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Consultar capacidade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63056" y="3474720"/>
            <a:ext cx="2560320" cy="3108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368503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400" b="1">
                <a:solidFill>
                  <a:srgbClr val="43CEEF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46177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ALOCAR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539496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Simular Separação</a:t>
            </a:r>
          </a:p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Confirmar 4 posições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24544" y="3474720"/>
            <a:ext cx="2560320" cy="3108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7424" y="368503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400" b="1">
                <a:solidFill>
                  <a:srgbClr val="43CEEF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07424" y="46177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ACOMPANHAR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7424" y="539496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Separação → Consolidada</a:t>
            </a:r>
          </a:p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Pronta para embarque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686032" y="3474720"/>
            <a:ext cx="2560320" cy="310896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868911" y="3685032"/>
            <a:ext cx="91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3400" b="1">
                <a:solidFill>
                  <a:srgbClr val="43CEEF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68911" y="461772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AVALIAR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68911" y="5394960"/>
            <a:ext cx="2194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Resultado final</a:t>
            </a:r>
          </a:p>
          <a:p>
            <a:pPr>
              <a:spcAft>
                <a:spcPts val="900"/>
              </a:spcAft>
              <a:defRPr sz="1700" b="0">
                <a:solidFill>
                  <a:srgbClr val="A6BDCF"/>
                </a:solidFill>
                <a:latin typeface="Aptos"/>
              </a:defRPr>
            </a:pPr>
            <a:r>
              <a:t>Relatórios atualizados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/ SMARTCARGO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49840" y="256032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A6BDCF"/>
                </a:solidFill>
                <a:latin typeface="Aptos"/>
              </a:defRPr>
            </a:pPr>
            <a:r>
              <a:t>FIAP  +  AZUL LOGÍSTICA  /  SPRINT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786384"/>
            <a:ext cx="13624560" cy="13716"/>
          </a:xfrm>
          <a:prstGeom prst="rect">
            <a:avLst/>
          </a:prstGeom>
          <a:solidFill>
            <a:srgbClr val="2844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808975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900" b="0">
                <a:solidFill>
                  <a:srgbClr val="A6BDCF"/>
                </a:solidFill>
                <a:latin typeface="Aptos"/>
              </a:defRPr>
            </a:pPr>
            <a:r>
              <a:t>PROTÓTIPO ACADÊMICO   /   DADOS SIMULADOS   /   PRÓXIMOS PASSOS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13080" y="77724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A6BDCF"/>
                </a:solidFill>
                <a:latin typeface="Aptos"/>
              </a:defRPr>
            </a:pPr>
            <a:r>
              <a:t>27 / 27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8156448"/>
            <a:ext cx="13624560" cy="41148"/>
          </a:xfrm>
          <a:prstGeom prst="rect">
            <a:avLst/>
          </a:prstGeom>
          <a:solidFill>
            <a:srgbClr val="43C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128016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4300" b="1">
                <a:solidFill>
                  <a:srgbClr val="FFFFFF"/>
                </a:solidFill>
                <a:latin typeface="Aptos"/>
              </a:defRPr>
            </a:pPr>
            <a:r>
              <a:t>Decisões claras.</a:t>
            </a:r>
          </a:p>
          <a:p>
            <a:pPr>
              <a:spcAft>
                <a:spcPts val="900"/>
              </a:spcAft>
              <a:defRPr sz="4300" b="1">
                <a:solidFill>
                  <a:srgbClr val="FFFFFF"/>
                </a:solidFill>
                <a:latin typeface="Aptos"/>
              </a:defRPr>
            </a:pPr>
            <a:r>
              <a:t>Operação rastreável.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37560"/>
            <a:ext cx="64008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500" b="0">
                <a:solidFill>
                  <a:srgbClr val="A6BDCF"/>
                </a:solidFill>
                <a:latin typeface="Aptos"/>
              </a:defRPr>
            </a:pPr>
            <a:r>
              <a:t>O protótipo conecta prioridade, espaço e execução. O próximo passo é transformar a jornada em um sistema funcional.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3383280"/>
            <a:ext cx="5577840" cy="100584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49640" y="35204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IMPLEMENTAR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86791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FFFFFF"/>
                </a:solidFill>
                <a:latin typeface="Aptos"/>
              </a:defRPr>
            </a:pPr>
            <a:r>
              <a:t>HTML, CSS, JavaScript e Tailwind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4617720"/>
            <a:ext cx="5577840" cy="100584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47548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INTEGRAR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510235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FFFFFF"/>
                </a:solidFill>
                <a:latin typeface="Aptos"/>
              </a:defRPr>
            </a:pPr>
            <a:r>
              <a:t>Dados, estados e indicadores consistentes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5852160"/>
            <a:ext cx="5577840" cy="1005840"/>
          </a:xfrm>
          <a:prstGeom prst="roundRect">
            <a:avLst>
              <a:gd name="adj" fmla="val 10000"/>
            </a:avLst>
          </a:prstGeom>
          <a:solidFill>
            <a:srgbClr val="1031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49640" y="5989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VALIDAR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6336792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900" b="0">
                <a:solidFill>
                  <a:srgbClr val="FFFFFF"/>
                </a:solidFill>
                <a:latin typeface="Aptos"/>
              </a:defRPr>
            </a:pPr>
            <a:r>
              <a:t>Fluxos e regras com operadores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53796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43CEEF"/>
                </a:solidFill>
                <a:latin typeface="Aptos"/>
              </a:defRPr>
            </a:pPr>
            <a:r>
              <a:t>AZUL SMARTCARGO  /  CHALLENGE FIAP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