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Apresentamos o Azul SmartCargo, proposta acadêmica do Challenge FIAP e Azul Logística. Primeiro explicamos o problema, o valor de negócio e como validá-lo. Depois percorremos as 28 telas com dados simulados. Os benefícios são hipóteses, não resultados medidos da operação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desafio é organizar urgências e usar melhor o espaço existente. A proposta reúne priorização, capacidade e acompanhamento. Redução de atrasos é um benefício esperado a validar, e não um resultado comprovado pelo protótipo.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entrada da plataforma. O operador encontra uma identidade visual consistente e campos de e-mail e senha. No protótipo, o acesso é demonstrativo: não há autenticação real. A finalidade é mostrar como começa a jornada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dashboard oferece uma visão rápida do terminal. As duas cargas prioritárias correspondem a uma crítica e uma alta. A carga pronta não entra nas três ativas. Os gráficos mostram movimentação e distribuição de prioridades; a tabela orienta o operador para a SC-1042. O percentual de 92% representa a base histórica simulada, não apenas as quatro cargas da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página reúne alertas em um único local. O vermelho chama atenção para o prazo da SC-1042, enquanto o amarelo indica a área próxima do limite. O operador pode abrir a análise do risco ou consultar a capacidade. O aviso de carga pronta completa a visão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tabela concentra os dados das quatro cargas do cenário. Cada registro traz identificação, destino, voo, peso, etapa e prioridade. A tela oferece busca, filtro de críticas, cadastro e acesso aos detalhes. Isso reduz a necessidade de procurar informações em controles separados.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estado demonstra a lista filtrada, exibindo somente a carga crítica SC-1042. O operador pode abrir seus detalhes ou limpar os filtros. No protótipo, o resultado é pré-definido; a consulta dinâmica será parte da implementação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cadastro reúne os dados que permitem planejar o processamento. O prazo disponível e a estimativa de duração sustentam a classificação da prioridade. Este formulário demonstra a SC-1046, em um ramo separado da jornada principal. Os campos são visuais no modo de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mostramos uma tentativa inválida. As mensagens explicam o que precisa ser corrigido, como o formato do AWB, peso positivo e preenchimento dos dados obrigatórios. São estados de erro desenhados, e não validações executadas em tempo real. A regra deverá ser implementada no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confirmação apresenta a nova carga SC-1046, com 200 quilos. Como o prazo é de 90 minutos e a estimativa é de 40, a margem é de 50 minutos e a prioridade é normal. Este é um ramo de demonstração: voltar à lista restaura as quatro cargas originais.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 detalhes, o operador consulta os dados completos da SC-1042 e seu estado inicial, Recebida. A linha do tempo indica as etapas previstas e o histórico registra as ações. Há acesso à edição e ao avanço de etapa. O indicador crítico continua visível para contextualizar 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edição concentra as informações que poderiam ser revisadas pelo operador. Neste protótipo, o botão salva sem alterações para preservar a coerência dos dados entre as telas. A edição livre e o recálculo automático da prioridade ficam para a implementação em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fila organiza as cargas em crítica, alta e normal. A regra compara prazo disponível e tempo estimado. Uma margem negativa indica crítica; de zero a trinta minutos, alta; acima disso, normal. Cada card apresenta os dados que justificam a prioridade, permitindo uma decisão transparente.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SC-1042 tem vinte minutos disponíveis, mas exige trinta e cinco minutos estimados. A margem de menos quinze minutos mostra o risco de atraso. A tela recomenda priorização e verificação de capacidade. Esse risco é uma projeção: o atraso efetivo só será conhecido ao concluir 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SC-1043 tem cinquenta minutos disponíveis e trinta minutos estimados de processamento. Como a margem é de vinte minutos, ela entra na prioridade alta. Existe tempo disponível, mas a folga é pequena. Este exemplo ajuda a comparar a classificação com a carga crítica.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SC-1044 apresenta margem de cinquenta e cinco minutos, calculada a partir de noventa e cinco minutos disponíveis e quarenta estimados. Por superar trinta minutos, a prioridade é normal. Isso permite concentrar a atenção nas cargas mais urgentes sem perder a visibilidade das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iniciar, o sistema reapresenta a carga e o risco. A confirmação torna explícito que o status passará de Recebida para Em separação e que a ação será registrada. O operador também pode cancelar. No arquivo, esta confirmação é um frame de estado, não um modal nativo.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Após confirmar, a interface informa que Mariana Silva iniciou a separação às dez e cinco. A mensagem confirma o registro e direciona o operador à capacidade operacional. No cenário desenhado, a separação começa antes da confirmação da alocação; uma versão futura deve avaliar se a reserva precisa anteceder essa mudança.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painel mostra recebimento, separação, consolidação e pré-embarque. Cada área apresenta ocupação e limite. A Separação tem doze posições disponíveis; a Consolidação tem apenas uma. Como a SC-1042 exige quatro posições, podemos demonstrar tanto uma alocação possível quanto uma operação bloqueada.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simulação mostra o impacto da alocação: vinte e oito posições ocupadas passam a trinta e duas, dentro do limite de quarenta. O saldo será de oito posições. Até confirmar, não há reserva. Esse passo permite revisar o destino e cancelar sem alterar a ocupação.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cenário alternativo de erro. A Consolidação tem uma posição livre, mas a carga necessita de quatro. Faltam três posições e a operação é bloqueada, preservando a ocupação. O operador deve escolher outra área ou aguardar espaço. Não houve alocação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Após a confirmação, a Separação passa a ter trinta e duas das quarenta posições ocupadas, ou oitenta por cento. A interface confirma a alocação da SC-1042 e direciona ao acompanhamento. As demais áreas mantêm a ocupação do cenário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linha do tempo indica que a carga foi recebida e está em separação. O histórico inclui o início do processamento e a confirmação da alocação. O operador pode avançar para a próxima etapa permitida. A consulta do histórico dá rastreabilidade à movimentação.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estado demonstra a proteção da sequência operacional. Não é permitido saltar diretamente para uma etapa posterior. A carga deve passar por Recebida, Em separação, Consolidada e Pronta para embarque. O bloqueio explica o motivo e oferece retorno ao acompanhamento; no protótipo, o retorno leva aos detalhes iniciais.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carga avança para Consolidada e recebe um novo registro às dez e dezessete. A linha do tempo torna o progresso visível. O card de área ainda exibe Separação porque o protótipo não simula transferências físicas entre áreas. Status do processo e posição alocada são informações distintas neste cenário.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Às dez e vinte e sete, a carga está pronta para embarque e todas as etapas estão registradas. Isso conclui o escopo de processamento apresentado. Não significa que a aeronave decolou ou que houve entrega ao destinatário. A liberação de posições não foi simulada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operação termina em vinte e sete minutos, contra um prazo inicial de vinte. O atraso efetivo é de sete minutos. A carga deixa a lista de críticas ativas por estar pronta, mas a ocorrência não desaparece. O resultado demonstra rastreabilidade; não comprova que a solução eliminou atrasos.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relatório inicial apresenta a base histórica simulada: cem cargas concluídas, das quais noventa e duas no prazo. A ocupação média inicial das quatro áreas é de oitenta e dois vírgula cinco por cento. Os gráficos e ocorrências contextualizam a operação, mas são dados ilustrativos do protótipo.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filtro de turno mostra as quatro cargas do conjunto inicial, com peso total de mil cento e setenta quilos. Uma carga está pronta e uma é crítica. Este recorte não deve ser confundido com a base histórica de cem cargas. Na navegação do protótipo, o filtro abre um estado pré-definido.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a SC-1042 concluída em atraso, a base histórica passa a cento e uma cargas e continua com noventa e duas no prazo. Por isso, o percentual cai para noventa e um vírgula um por cento. A ocupação média sobe para oitenta e cinco por cento. A média de trinta e um minutos é ilustrativa e não é derivável da base exibida; precisará ser recalculada com dados completos na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uma apresentação curta, siga este caminho e abra os cenários de exceção apenas quando necessário. Use os botões da jornada, pois o menu pode retornar aos estados iniciais. Cadastro e tentativa de alocação na Consolidação são ramos alternativos.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material enviado contém imagens exportadas. A apresentação explica esses estados sem verificar a navegação do arquivo Figma. Regras e dados são simulados. A SC-1042 termina com sete minutos de atraso; concluída não significa no prazo. Precisamos integrar estados, ajustar indicadores e testar com operadores antes de afirmar ganhos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briefing apresenta o desafio de reduzir atrasos e melhorar a eficiência sem ampliar a área física. Partimos da hipótese de que falta de visibilidade compartilhada e decisões desconectadas podem dificultar a priorização. Não realizamos entrevistas nem medimos a operação real da Azul. Estas causas e impactos devem ser investigados no diagnóstico com operadores e gestores.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perfis são propostos para orientar a descoberta, não personas validadas. O operador usa a ferramenta no dia a dia. O supervisor coordena exceções, capacidade e equipes. O gestor acompanha desempenho e pode patrocinar o piloto. Aprovação, orçamento e responsabilidades precisam ser confirmados com a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valor proposto é conectar prioridade, capacidade e execução. A classificação por margem é uma regra transparente, não um modelo de inteligência artificial. O operador continua responsável pelas decisões. O diferencial apresentado é a combinação das informações em uma mesma jornada, e não uma comparação comprovada com os sistemas atualmente utilizados pela Azul.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coluna de risco representa uma situação hipotética de baixa visibilidade, não uma afirmação sobre o modo como a Azul trabalha. O piloto deve verificar se a equipe hoje enfrenta essas dificuldades e se a proposta melhora a decisão. O valor só se confirma quando o uso real muda os indicadores sem criar novos gargalos.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são hipóteses. A fila pode reduzir espera das urgentes; o bloqueio de capacidade pode reduzir alocações inadequadas; o histórico pode reduzir tempo gasto procurando informações. Nenhum percentual de ganho foi medido. Mesmo uma carga concluída pode terminar em atraso, como ocorre com a SC-1042.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do piloto, definir os eventos e timestamps: recebida, início de separação, consolidada e pronta. Pontualidade compara o instante pronta com o prazo acordado. O tempo médio usa a mesma janela e as mesmas regras para todos os registros. Ocupação deve ser acompanhada ao longo do turno, e não só em uma captura de tela. Metas numéricas serão acordadas após medir a linha de base. Os indicadores do protótipo são fictícios e não servem como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informação validada de orçamento, custos ou volume financeiro. O modelo é de uso interno: não presumimos receita de assinatura. Estimar horas efetivamente economizadas, verificar se são convertidas em capacidade ou redução de custo, e evitar contar o mesmo ganho duas vezes. ROI é benefícios menos custos dividido pelos custos no mesmo período. Se houver ganhos anuais e investimento inicial, o payback depende do fluxo líquido; só calcular após validar valores e recorrência.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observar o processo e entrevistar operadores e gestores, definindo indicadores e linha de base. Depois testar usabilidade com cenários de carga crítica, capacidade excedida e sequência inválida. O piloto operacional deve ter um recorte de área ou turno, dados confiáveis e comparação controlada por perfil de carga. Sem melhora sustentada e sem aceitação dos operadores, revisar antes de expandir. Critérios e metas precisam ser acordados, não inventados nesta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MVP inclui cadastro, consulta, fila por margem, capacidade e acompanhamento. A implementação pode começar com HTML, CSS, JavaScript e Tailwind e dados simulados; persistência, perfis, auditoria e integrações exigem definição adicional antes de uso operacional. Capacidade e estimativas precisam ser confiáveis. Não estamos prometendo previsão com IA, otimização automática de toda a operação ou ampliação física.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332306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43CEEF"/>
                </a:solidFill>
                <a:latin typeface="Aptos"/>
              </a:defRPr>
            </a:pPr>
            <a:r>
              <a:t>VIRACOPOS  /  GESTÃO DE CARGAS AÉREAS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Cada carga.</a:t>
            </a:r>
          </a:p>
          <a:p>
            <a:pPr>
              <a:spcAft>
                <a:spcPts val="9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Uma decisão melhor.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6583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A6BDCF"/>
                </a:solidFill>
                <a:latin typeface="Aptos"/>
              </a:defRPr>
            </a:pPr>
            <a:r>
              <a:t>Prioridade, capacidade e acompanhamento</a:t>
            </a:r>
          </a:p>
          <a:p>
            <a:pPr>
              <a:spcAft>
                <a:spcPts val="900"/>
              </a:spcAft>
              <a:defRPr sz="2300" b="0">
                <a:solidFill>
                  <a:srgbClr val="A6BDCF"/>
                </a:solidFill>
                <a:latin typeface="Aptos"/>
              </a:defRPr>
            </a:pPr>
            <a:r>
              <a:t>em uma única jornada operacional.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103120"/>
            <a:ext cx="2926080" cy="36576"/>
          </a:xfrm>
          <a:prstGeom prst="rect">
            <a:avLst/>
          </a:prstGeom>
          <a:solidFill>
            <a:srgbClr val="256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07240" y="2103120"/>
            <a:ext cx="36576" cy="2651760"/>
          </a:xfrm>
          <a:prstGeom prst="rect">
            <a:avLst/>
          </a:prstGeom>
          <a:solidFill>
            <a:srgbClr val="256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4709160"/>
            <a:ext cx="2926080" cy="36576"/>
          </a:xfrm>
          <a:prstGeom prst="rect">
            <a:avLst/>
          </a:prstGeom>
          <a:solidFill>
            <a:srgbClr val="256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4709160"/>
            <a:ext cx="36576" cy="1005840"/>
          </a:xfrm>
          <a:prstGeom prst="rect">
            <a:avLst/>
          </a:prstGeom>
          <a:solidFill>
            <a:srgbClr val="256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1737360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0F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1856231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PRIORIZAR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389120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0F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67744" y="45079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0" y="4663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ALOCAR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5577840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0F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56967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85215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ACOMPANHAR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664612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280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Mais eficiência no espaço que já existe.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1887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A6BDCF"/>
                </a:solidFill>
                <a:latin typeface="Aptos"/>
              </a:defRPr>
            </a:pPr>
            <a:r>
              <a:t>A proposta conecta três decisões do operador no terminal de Viracopos.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4251960" cy="3291840"/>
          </a:xfrm>
          <a:prstGeom prst="roundRect">
            <a:avLst>
              <a:gd name="adj" fmla="val 10000"/>
            </a:avLst>
          </a:prstGeom>
          <a:solidFill>
            <a:srgbClr val="0F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O que tratar primeiro?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Prioridade calculada pela margem entre prazo e estimativa.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566160"/>
            <a:ext cx="4251960" cy="3291840"/>
          </a:xfrm>
          <a:prstGeom prst="roundRect">
            <a:avLst>
              <a:gd name="adj" fmla="val 10000"/>
            </a:avLst>
          </a:prstGeom>
          <a:solidFill>
            <a:srgbClr val="0F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794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61772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Onde alocar?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5321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Visibilidade de ocupação para respeitar o limite das áreas.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566160"/>
            <a:ext cx="4251960" cy="3291840"/>
          </a:xfrm>
          <a:prstGeom prst="roundRect">
            <a:avLst>
              <a:gd name="adj" fmla="val 10000"/>
            </a:avLst>
          </a:prstGeom>
          <a:solidFill>
            <a:srgbClr val="0F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3794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61772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Em que etapa está?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5321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Acompanhamento sequencial com histórico e ocorrências.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3987676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Login / Acesso à operação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LOGIN</a:t>
            </a:r>
          </a:p>
        </p:txBody>
      </p:sp>
      <p:pic>
        <p:nvPicPr>
          <p:cNvPr id="27" name="Picture 26" descr="login • Acesso à operaçã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Identificar o operador e apresentar o sistema.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E-mail e senha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Identidade Azul SmartCargo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Entrada na demonstração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13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4319982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Dashboard operacional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DASHBOARD</a:t>
            </a:r>
          </a:p>
        </p:txBody>
      </p:sp>
      <p:pic>
        <p:nvPicPr>
          <p:cNvPr id="27" name="Picture 26" descr="dashboard • Dashboard 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Transformar dados do terminal em prioridades de ação.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 cargas ativas; 2 prioritárias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 carga crítica: SC-1042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92% no prazo na base histórica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14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4652288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Central de notificações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AVISOS</a:t>
            </a:r>
          </a:p>
        </p:txBody>
      </p:sp>
      <p:pic>
        <p:nvPicPr>
          <p:cNvPr id="27" name="Picture 26" descr="avisos • Central de notificaçõ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Reunir situações que exigem atenção.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Risco de atraso da SC-1042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Consolidação com 95% de ocupação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SC-1045 pronta para embarque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15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4984595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Gestão de cargas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CARGAS</a:t>
            </a:r>
          </a:p>
        </p:txBody>
      </p:sp>
      <p:pic>
        <p:nvPicPr>
          <p:cNvPr id="27" name="Picture 26" descr="cargas • Gestão de car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Centralizar consulta e manutenção dos registros.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Código, AWB, destino e voo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Peso, status e prioridade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Pesquisa, filtros e cadastro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5316901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Resultado da busca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BUSCA</a:t>
            </a:r>
          </a:p>
        </p:txBody>
      </p:sp>
      <p:pic>
        <p:nvPicPr>
          <p:cNvPr id="27" name="Picture 26" descr="busca • Resultado da bu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Encontrar rapidamente a carga relevante.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Filtro de prioridade crítica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SC-1042 como resultado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Limpar filtros para retornar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5649207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Cadastro de carga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CADASTRO</a:t>
            </a:r>
          </a:p>
        </p:txBody>
      </p:sp>
      <p:pic>
        <p:nvPicPr>
          <p:cNvPr id="27" name="Picture 26" descr="cadastro • Cadastrar c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Registrar os dados necessários ao planejamento.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Identificação, destino e voo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Peso, prazo e estimativa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Validar antes de salvar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5981514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Validação do cadastro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VALIDACAO</a:t>
            </a:r>
          </a:p>
        </p:txBody>
      </p:sp>
      <p:pic>
        <p:nvPicPr>
          <p:cNvPr id="27" name="Picture 26" descr="validacao • Validação do cada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Evitar informações incompletas ou inválidas.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AWB no formato esperado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Peso maior que zero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Minutos positivos e campos obrigatórios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6313820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Cadastro concluído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CADASTRO-OK</a:t>
            </a:r>
          </a:p>
        </p:txBody>
      </p:sp>
      <p:pic>
        <p:nvPicPr>
          <p:cNvPr id="27" name="Picture 26" descr="cadastro-ok • Carga cadast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Confirmar o registro e sua classificação.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SC-1046: BSB / AD 4102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90 − 40 = 50 minutos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Prioridade normal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6646126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Detalhes da carga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DETALHES</a:t>
            </a:r>
          </a:p>
        </p:txBody>
      </p:sp>
      <p:pic>
        <p:nvPicPr>
          <p:cNvPr id="27" name="Picture 26" descr="detalhes • Detalhes •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Oferecer uma visão individual e rastreável.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SC-1042: REC / AD 4170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Recebida, com margem de −15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Linha do tempo e histórico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6978433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Edição da carga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EDITAR</a:t>
            </a:r>
          </a:p>
        </p:txBody>
      </p:sp>
      <p:pic>
        <p:nvPicPr>
          <p:cNvPr id="27" name="Picture 26" descr="editar • Editar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Demonstrar a revisão dos dados operacionais.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Destino, voo, peso e prazo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Preservação dos dados do cenário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Prioridade calculada pelas regras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7310739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Fila inteligente de priorização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FILA</a:t>
            </a:r>
          </a:p>
        </p:txBody>
      </p:sp>
      <p:pic>
        <p:nvPicPr>
          <p:cNvPr id="27" name="Picture 26" descr="fila • Fila inteligente de priorizaçã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Ordenar a atenção segundo a margem de tempo.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Margem = prazo − estimativa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Negativa: crítica; 0 a 30: alta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Acima de 30: normal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23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7643045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Análise da carga crítica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ANALISE</a:t>
            </a:r>
          </a:p>
        </p:txBody>
      </p:sp>
      <p:pic>
        <p:nvPicPr>
          <p:cNvPr id="27" name="Picture 26" descr="analise • Análise •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Explicar o risco antes de agir.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SC-1042: prazo de 20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Estimativa de 35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Margem de −15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24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7975352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Análise da prioridade 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ANALISE-ALTA</a:t>
            </a:r>
          </a:p>
        </p:txBody>
      </p:sp>
      <p:pic>
        <p:nvPicPr>
          <p:cNvPr id="27" name="Picture 26" descr="analise-alta • Análise • SC-1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Mostrar uma carga com pouca folga.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SC-1043: MAO / AD 4382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50 − 30 = 20 minutos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Acompanhar o processamento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25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8307658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Análise da prioridade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ANALISE-NORMAL</a:t>
            </a:r>
          </a:p>
        </p:txBody>
      </p:sp>
      <p:pic>
        <p:nvPicPr>
          <p:cNvPr id="27" name="Picture 26" descr="analise-normal • Análise • SC-1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Demonstrar uma situação com margem maior.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SC-1044: SSA / AD 4028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95 − 40 = 55 minutos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Manter a sequência normal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8639964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Confirmação do processamento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CONFIRMAR</a:t>
            </a:r>
          </a:p>
        </p:txBody>
      </p:sp>
      <p:pic>
        <p:nvPicPr>
          <p:cNvPr id="27" name="Picture 26" descr="confirmar • Confirmar process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Garantir uma decisão consciente do operador.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Reforço do risco de atraso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Recebida → Em separação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Confirmar ou cancelar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PRIORIDADE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8972271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Processamento iniciado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INICIADO</a:t>
            </a:r>
          </a:p>
        </p:txBody>
      </p:sp>
      <p:pic>
        <p:nvPicPr>
          <p:cNvPr id="27" name="Picture 26" descr="iniciado • Processamento inic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Confirmar a ação e orientar o próximo passo.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Registro às 10h05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Status: Em separação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Consultar capacidade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CAPACIDADE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9304577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Capacidade operacional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CAPACIDADE</a:t>
            </a:r>
          </a:p>
        </p:txBody>
      </p:sp>
      <p:pic>
        <p:nvPicPr>
          <p:cNvPr id="27" name="Picture 26" descr="capacidade • Capacidade 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Verificar espaço antes de alocar uma carga.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Quatro áreas monitoradas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Separação: 28/40 ocupadas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SC-1042 exige 4 posições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CAPACIDADE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29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9636883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Simulação de alocação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SIMULACAO</a:t>
            </a:r>
          </a:p>
        </p:txBody>
      </p:sp>
      <p:pic>
        <p:nvPicPr>
          <p:cNvPr id="27" name="Picture 26" descr="simulacao • Simulação de alocaçã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Antecipar o impacto sem reservar espaço.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Separação: 28 → 32 posições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Limite de 40; saldo de 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Confirmar para efetivar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CAPACIDADE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9969190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Exceção / Capacidade excedida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EXCEDIDA</a:t>
            </a:r>
          </a:p>
        </p:txBody>
      </p:sp>
      <p:pic>
        <p:nvPicPr>
          <p:cNvPr id="27" name="Picture 26" descr="excedida • Capacidade exced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Impedir uma alocação além do limite.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Consolidação: 19/20 ocupadas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 livre para uma demanda de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Operação bloqueada; faltam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CAPACIDADE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0301496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Alocação concluída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ALOCADA</a:t>
            </a:r>
          </a:p>
        </p:txBody>
      </p:sp>
      <p:pic>
        <p:nvPicPr>
          <p:cNvPr id="27" name="Picture 26" descr="alocada • Capacidade 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Confirmar a ocupação e manter a jornada.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SC-1042 na Separação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32/40 posições: 80%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Seguir para acompanhamento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0633802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Acompanhamento / Em separação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ETAPA1</a:t>
            </a:r>
          </a:p>
        </p:txBody>
      </p:sp>
      <p:pic>
        <p:nvPicPr>
          <p:cNvPr id="27" name="Picture 26" descr="etapa1 • Detalhes •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Mostrar o início da execução e seu registro.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Primeira etapa concluída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Separação em andamento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Histórico de início e alocação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33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0966109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Exceção / Transição não permitida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SEQUENCIA</a:t>
            </a:r>
          </a:p>
        </p:txBody>
      </p:sp>
      <p:pic>
        <p:nvPicPr>
          <p:cNvPr id="27" name="Picture 26" descr="sequencia • Transição não permit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Preservar a ordem do processamento.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Tentativa de pular uma etapa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Atualização bloqueada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Concluir a sequência prevista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34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1298415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Acompanhamento / Consolidada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ETAPA2</a:t>
            </a:r>
          </a:p>
        </p:txBody>
      </p:sp>
      <p:pic>
        <p:nvPicPr>
          <p:cNvPr id="27" name="Picture 26" descr="etapa2 • Detalhes •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Registrar o avanço intermediário.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Consolidação às 10h17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Histórico atualizado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Próxima etapa: pronta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35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1630721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Acompanhamento / Pronta para embarque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ETAPA3</a:t>
            </a:r>
          </a:p>
        </p:txBody>
      </p:sp>
      <p:pic>
        <p:nvPicPr>
          <p:cNvPr id="27" name="Picture 26" descr="etapa3 • Detalhes • SC-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Concluir o escopo do processamento.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Conclusão às 10h27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Quatro etapas registradas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Consultar o resultado final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1963028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Resultado da operação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RESULTADO</a:t>
            </a:r>
          </a:p>
        </p:txBody>
      </p:sp>
      <p:pic>
        <p:nvPicPr>
          <p:cNvPr id="27" name="Picture 26" descr="resultado • Operação finaliz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Apresentar o desfecho com transparência.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27 minutos realizados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Prazo de 20 min: atraso de 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 ativas; nenhuma crítica ativa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2295334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Relatórios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RELATORIOS</a:t>
            </a:r>
          </a:p>
        </p:txBody>
      </p:sp>
      <p:pic>
        <p:nvPicPr>
          <p:cNvPr id="27" name="Picture 26" descr="relatorios • Relatórios operacion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Estabelecer a visão histórica de desempenho.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Média simulada: 32 minutos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92 de 100 cargas no prazo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Ocupação média: 82,5%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2627640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Relatório do turno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RELATORIOS-TURNO</a:t>
            </a:r>
          </a:p>
        </p:txBody>
      </p:sp>
      <p:pic>
        <p:nvPicPr>
          <p:cNvPr id="27" name="Picture 26" descr="relatorios-turno • Relatório • turno a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Consultar um recorte das cargas apresentadas.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4 cargas na demonstração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Peso total: 1.170 kg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 pronta no estado inicial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39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2959947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353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Relatórios após a conclusão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CAPACIDADE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5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A6BDCF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0" y="1847088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0936" y="189738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071E35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42032"/>
            <a:ext cx="8065007" cy="5246369"/>
          </a:xfrm>
          <a:prstGeom prst="roundRect">
            <a:avLst>
              <a:gd name="adj" fmla="val 10000"/>
            </a:avLst>
          </a:prstGeom>
          <a:solidFill>
            <a:srgbClr val="02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7955279" cy="265176"/>
          </a:xfrm>
          <a:prstGeom prst="roundRect">
            <a:avLst>
              <a:gd name="adj" fmla="val 10000"/>
            </a:avLst>
          </a:prstGeom>
          <a:solidFill>
            <a:srgbClr val="25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" y="2514600"/>
            <a:ext cx="59436" cy="59436"/>
          </a:xfrm>
          <a:prstGeom prst="ellipse">
            <a:avLst/>
          </a:prstGeom>
          <a:solidFill>
            <a:srgbClr val="E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2514600"/>
            <a:ext cx="59436" cy="59436"/>
          </a:xfrm>
          <a:prstGeom prst="ellipse">
            <a:avLst/>
          </a:prstGeom>
          <a:solidFill>
            <a:srgbClr val="E8B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2514600"/>
            <a:ext cx="59436" cy="59436"/>
          </a:xfrm>
          <a:prstGeom prst="ellipse">
            <a:avLst/>
          </a:prstGeom>
          <a:solidFill>
            <a:srgbClr val="63C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247802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A6BDCF"/>
                </a:solidFill>
                <a:latin typeface="Aptos"/>
              </a:defRPr>
            </a:pPr>
            <a:r>
              <a:t>SMARTCARGO   /   RELATORIOS-FINAL</a:t>
            </a:r>
          </a:p>
        </p:txBody>
      </p:sp>
      <p:pic>
        <p:nvPicPr>
          <p:cNvPr id="27" name="Picture 26" descr="relatorios-final • Relatórios operacion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7955279" cy="49720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89720" y="2432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POR QUE ESTA TELA EXISTE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52928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Registrar o impacto da carga finalizada.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270248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4462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43484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92/101 no prazo: 91,1%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221224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5413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5385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0 críticas ativas; atraso mantido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617220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63642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633679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Ocupação média: 85%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40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3292253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280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Da urgência ao resultado.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280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A6BDCF"/>
                </a:solidFill>
                <a:latin typeface="Aptos"/>
              </a:defRPr>
            </a:pPr>
            <a:r>
              <a:t>Use este caminho para apresentar a jornada principal da SC-1042.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85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IDENTIFICAR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94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Dashboard → Fila</a:t>
            </a:r>
          </a:p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Analisar risco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47472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3685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5394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Confirmar início</a:t>
            </a:r>
          </a:p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Consultar capacidade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47472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685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ALOCAR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394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Simular Separação</a:t>
            </a:r>
          </a:p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Confirmar 4 posições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347472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3685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43CEE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ACOMPANHAR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5394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Separação → Consolidada</a:t>
            </a:r>
          </a:p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Pronta para embarque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86032" y="3474720"/>
            <a:ext cx="2560320" cy="310896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68911" y="3685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43CEE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68911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AVALIAR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68911" y="5394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Resultado final</a:t>
            </a:r>
          </a:p>
          <a:p>
            <a:pPr>
              <a:spcAft>
                <a:spcPts val="900"/>
              </a:spcAft>
              <a:defRPr sz="1700" b="0">
                <a:solidFill>
                  <a:srgbClr val="A6BDCF"/>
                </a:solidFill>
                <a:latin typeface="Aptos"/>
              </a:defRPr>
            </a:pPr>
            <a:r>
              <a:t>Relatórios atualizados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3624560" cy="13716"/>
          </a:xfrm>
          <a:prstGeom prst="rect">
            <a:avLst/>
          </a:prstGeom>
          <a:solidFill>
            <a:srgbClr val="28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08975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DADOS SIMULADOS   /  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41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156448"/>
            <a:ext cx="13624559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2801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Decisões claras.</a:t>
            </a:r>
          </a:p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Operação rastreável.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A6BDCF"/>
                </a:solidFill>
                <a:latin typeface="Aptos"/>
              </a:defRPr>
            </a:pPr>
            <a:r>
              <a:t>O protótipo conecta prioridade, espaço e execução. O próximo passo é transformar a jornada em um sistema funcional.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383280"/>
            <a:ext cx="5577840" cy="100584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520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IMPLEMENTAR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8679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HTML, CSS, JavaScript e Tailwind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617720"/>
            <a:ext cx="5577840" cy="100584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754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INTEGRAR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51023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Dados, estados e indicadores consistentes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5852160"/>
            <a:ext cx="5577840" cy="1005840"/>
          </a:xfrm>
          <a:prstGeom prst="roundRect">
            <a:avLst>
              <a:gd name="adj" fmla="val 10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63367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Fluxos e regras com operadores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379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SMARTCARGO  /  CHALLENGE FIAP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 problema que o negócio precisa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Atrasos e restrições de espaço exigem decisões coordenadas no terminal.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Urgência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Identificar quais cargas têm menos tempo para completar o processo.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Espaço limitado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Distribuir cargas respeitando a capacidade disponível de cada área.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Impacto esperado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Evitar esperas e retrabalho e melhorar o cumprimento dos prazos.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03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996919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Quem usa e quem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A solução é proposta para uso interno na operação logística de Viracopos.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Operador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Consulta a fila, aloca posições e registra o avanço de cada carga.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Trata exceções e acompanha gargalos e ocupação durante o turno.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Avalia indicadores, custos e resultados para decidir sobre expansão.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04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1329225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Proposta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Apoiar a decisão certa, no momento certo, com o espaço disponível.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Prioridade explicável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Prazo menos estimativa define a urgência e mostra sua justificativa.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Capacidade visível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O operador simula a alocação antes de ocupar posições.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Rastreabilidade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Etapas, responsáveis e ocorrências compõem o histórico operacional.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05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1661531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Como a proposta muda a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Comparação conceitual para validar em campo; não é um diagnóstico do processo atual.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60350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0" y="342900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3016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6BDCF"/>
                </a:solidFill>
                <a:latin typeface="Aptos"/>
              </a:defRPr>
            </a:pPr>
            <a:r>
              <a:t>Urgência pouco visível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630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43C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630168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Fila com margem e justificativa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63440"/>
            <a:ext cx="60350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466344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7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6BDCF"/>
                </a:solidFill>
                <a:latin typeface="Aptos"/>
              </a:defRPr>
            </a:pPr>
            <a:r>
              <a:t>Espaço verificado tardiamente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8646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43C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64607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Simulação antes da alocação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897880"/>
            <a:ext cx="60350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589788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9904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6BDCF"/>
                </a:solidFill>
                <a:latin typeface="Aptos"/>
              </a:defRPr>
            </a:pPr>
            <a:r>
              <a:t>Etapas sem visão compartilhada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6099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43C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6099048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Linha do tempo e histórico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26948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3CEEF"/>
                </a:solidFill>
                <a:latin typeface="Aptos"/>
              </a:defRPr>
            </a:pPr>
            <a:r>
              <a:t>RISCO HIPOTÉTICO                                         DECISÃO APOIADA PELO SMARTCARGO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06 / 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8156448"/>
            <a:ext cx="1993838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Benefícios esperados e seus mecanismos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Cada benefício precisa ser associado a uma mudança observável na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Mais pontualidade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Priorizar menor margem pode reduzir a espera de cargas urgentes.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Melhor uso do espaço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Simular e bloquear excessos pode evitar movimentações desnecessárias.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Mais previsibilidade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Etapas registradas facilitam localizar pendências e tratar exceções.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07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2326144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Como medir se a solução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Coletar uma linha de base e comparar turnos com perfil operacional semelhante.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13258800" cy="68580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0215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Pontualidade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50215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6BDCF"/>
                </a:solidFill>
                <a:latin typeface="Aptos"/>
              </a:defRPr>
            </a:pPr>
            <a:r>
              <a:t>Concluídas no prazo ÷ concluídas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35021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CEEF"/>
                </a:solidFill>
                <a:latin typeface="Aptos"/>
              </a:defRPr>
            </a:pPr>
            <a:r>
              <a:t>Aumentar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69663"/>
            <a:ext cx="13258800" cy="68580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3425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Tempo de processamento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334255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6BDCF"/>
                </a:solidFill>
                <a:latin typeface="Aptos"/>
              </a:defRPr>
            </a:pPr>
            <a:r>
              <a:t>Média de pronta − recebida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4334255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CEEF"/>
                </a:solidFill>
                <a:latin typeface="Aptos"/>
              </a:defRPr>
            </a:pPr>
            <a:r>
              <a:t>Reduzir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01768"/>
            <a:ext cx="13258800" cy="68580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Ocupação das áreas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66359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6BDCF"/>
                </a:solidFill>
                <a:latin typeface="Aptos"/>
              </a:defRPr>
            </a:pPr>
            <a:r>
              <a:t>Posições ocupadas ÷ capacidade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5166359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CEEF"/>
                </a:solidFill>
                <a:latin typeface="Aptos"/>
              </a:defRPr>
            </a:pPr>
            <a:r>
              <a:t>Evitar saturação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833872"/>
            <a:ext cx="13258800" cy="68580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99846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Críticas 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998464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6BDCF"/>
                </a:solidFill>
                <a:latin typeface="Aptos"/>
              </a:defRPr>
            </a:pPr>
            <a:r>
              <a:t>Quantidade com margem negativa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5998464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CEEF"/>
                </a:solidFill>
                <a:latin typeface="Aptos"/>
              </a:defRPr>
            </a:pPr>
            <a:r>
              <a:t>Reduzir pendências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995160"/>
            <a:ext cx="1280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6BDCF"/>
                </a:solidFill>
                <a:latin typeface="Aptos"/>
              </a:defRPr>
            </a:pPr>
            <a:r>
              <a:t>Metas a pactuar após a linha de base. Volume, destino, peso e turno devem ser considerados.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08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8156448"/>
            <a:ext cx="2658450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Viabilidade e retorno do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Modelo de eficiência interna: o valor deve superar implantação e manutenção.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74720"/>
            <a:ext cx="640080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3CEEF"/>
                </a:solidFill>
                <a:latin typeface="Aptos"/>
              </a:defRPr>
            </a:pPr>
            <a:r>
              <a:t>VALOR A ESTIMAR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Horas poupadas × custo/hora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+ custos evitados comprovados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− custos operacionais adicionais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474720"/>
            <a:ext cx="649224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49039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3CEEF"/>
                </a:solidFill>
                <a:latin typeface="Aptos"/>
              </a:defRPr>
            </a:pPr>
            <a:r>
              <a:t>CUSTOS A LEVANTAR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434840"/>
            <a:ext cx="57607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Desenvolvimento e integração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Infraestrutura e suporte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Treinamento e adoção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223760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6BDCF"/>
                </a:solidFill>
                <a:latin typeface="Aptos"/>
              </a:defRPr>
            </a:pPr>
            <a:r>
              <a:t>ROI = (benefícios monetizados − custos totais) ÷ custos totais, no mesmo período.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09 / 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8156448"/>
            <a:ext cx="2990757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Plano de validação do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Proposta de implantação gradual, condicionada ao alinhamento com a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Diagnosticar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Observar a operação, ouvir usuários e medir a linha de 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Experimentar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Testar a interface e executar um piloto em área ou turno delimitado.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Comparar indicadores e adoção; ajustar antes de ampliar o uso.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10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3323063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3CEEF"/>
                </a:solidFill>
                <a:latin typeface="Aptos"/>
              </a:defRPr>
            </a:pPr>
            <a:r>
              <a:t>AZUL / SMARTCARGO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0" y="256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6BDCF"/>
                </a:solidFill>
                <a:latin typeface="Aptos"/>
              </a:defRPr>
            </a:pPr>
            <a:r>
              <a:t>FIAP  +  AZUL LOGÍSTICA  / 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258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MVP, dependências e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6BDCF"/>
                </a:solidFill>
                <a:latin typeface="Aptos"/>
              </a:defRPr>
            </a:pPr>
            <a:r>
              <a:t>Um escopo enxuto para testar valor antes de ampliar a solução.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08975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A6BDCF"/>
                </a:solidFill>
                <a:latin typeface="Aptos"/>
              </a:defRPr>
            </a:pPr>
            <a:r>
              <a:t>PROTÓTIPO ACADÊMICO   /   HIPÓTESES DE NEGÓCIO A VALIDAR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MVP proposto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Cadastro, fila, simulação de capacidade, etapas e indicadores básicos.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Dependências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Estimativas confiáveis, capacidade atualizada e regras acordadas.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566160"/>
            <a:ext cx="4251960" cy="3474720"/>
          </a:xfrm>
          <a:prstGeom prst="roundRect">
            <a:avLst>
              <a:gd name="adj" fmla="val 8000"/>
            </a:avLst>
          </a:prstGeom>
          <a:solidFill>
            <a:srgbClr val="10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43CE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5720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Evolução condicionada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577840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6BDCF"/>
                </a:solidFill>
                <a:latin typeface="Aptos"/>
              </a:defRPr>
            </a:pPr>
            <a:r>
              <a:t>Integrar dados e permissões após validar usabilidade e valor no piloto.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1308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6BDCF"/>
                </a:solidFill>
                <a:latin typeface="Aptos"/>
              </a:defRPr>
            </a:pPr>
            <a:r>
              <a:t>11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156448"/>
            <a:ext cx="3655369" cy="41148"/>
          </a:xfrm>
          <a:prstGeom prst="rect">
            <a:avLst/>
          </a:prstGeom>
          <a:solidFill>
            <a:srgbClr val="43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