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Apresentamos o Azul SmartCargo, proposta acadêmica para o Challenge FIAP e Azul Logística. O protótipo demonstra apoio à decisão com dados simulados. Vamos percorrer suas 28 telas e explicar a jornada operacional.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desafio é organizar urgências e usar melhor o espaço existente. A proposta reúne priorização, capacidade e acompanhamento. Redução de atrasos é um benefício esperado a validar, e não um resultado comprovado pelo protótipo.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é a entrada da plataforma. O operador encontra uma identidade visual consistente e campos de e-mail e senha. No protótipo, o acesso é demonstrativo: não há autenticação real. A finalidade é mostrar como começa a jornada operacional.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dashboard oferece uma visão rápida do terminal. As duas cargas prioritárias correspondem a uma crítica e uma alta. A carga pronta não entra nas três ativas. Os gráficos mostram movimentação e distribuição de prioridades; a tabela orienta o operador para a SC-1042. O percentual de 92% representa a base histórica simulada, não apenas as quatro cargas da lista.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página reúne alertas em um único local. O vermelho chama atenção para o prazo da SC-1042, enquanto o amarelo indica a área próxima do limite. O operador pode abrir a análise do risco ou consultar a capacidade. O aviso de carga pronta completa a visão operacional.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tabela concentra os dados das quatro cargas do cenário. Cada registro traz identificação, destino, voo, peso, etapa e prioridade. A tela oferece busca, filtro de críticas, cadastro e acesso aos detalhes. Isso reduz a necessidade de procurar informações em controles separados.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estado demonstra a lista filtrada, exibindo somente a carga crítica SC-1042. O operador pode abrir seus detalhes ou limpar os filtros. No protótipo, o resultado é pré-definido; a consulta dinâmica será parte da implementação futura.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cadastro reúne os dados que permitem planejar o processamento. O prazo disponível e a estimativa de duração sustentam a classificação da prioridade. Este formulário demonstra a SC-1046, em um ramo separado da jornada principal. Os campos são visuais no modo de apresentação.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Aqui mostramos uma tentativa inválida. As mensagens explicam o que precisa ser corrigido, como o formato do AWB, peso positivo e preenchimento dos dados obrigatórios. São estados de erro desenhados, e não validações executadas em tempo real. A regra deverá ser implementada no sistema.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confirmação apresenta a nova carga SC-1046, com 200 quilos. Como o prazo é de 90 minutos e a estimativa é de 40, a margem é de 50 minutos e a prioridade é normal. Este é um ramo de demonstração: voltar à lista restaura as quatro cargas originais.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Nos detalhes, o operador consulta os dados completos da SC-1042 e seu estado inicial, Recebida. A linha do tempo indica as etapas previstas e o histórico registra as ações. Há acesso à edição e ao avanço de etapa. O indicador crítico continua visível para contextualizar a decisão.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edição concentra as informações que poderiam ser revisadas pelo operador. Neste protótipo, o botão salva sem alterações para preservar a coerência dos dados entre as telas. A edição livre e o recálculo automático da prioridade ficam para a implementação em código.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fila organiza as cargas em crítica, alta e normal. A regra compara prazo disponível e tempo estimado. Uma margem negativa indica crítica; de zero a trinta minutos, alta; acima disso, normal. Cada card apresenta os dados que justificam a prioridade, permitindo uma decisão transparente.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SC-1042 tem vinte minutos disponíveis, mas exige trinta e cinco minutos estimados. A margem de menos quinze minutos mostra o risco de atraso. A tela recomenda priorização e verificação de capacidade. Esse risco é uma projeção: o atraso efetivo só será conhecido ao concluir a operação.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SC-1043 tem cinquenta minutos disponíveis e trinta minutos estimados de processamento. Como a margem é de vinte minutos, ela entra na prioridade alta. Existe tempo disponível, mas a folga é pequena. Este exemplo ajuda a comparar a classificação com a carga crítica.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SC-1044 apresenta margem de cinquenta e cinco minutos, calculada a partir de noventa e cinco minutos disponíveis e quarenta estimados. Por superar trinta minutos, a prioridade é normal. Isso permite concentrar a atenção nas cargas mais urgentes sem perder a visibilidade das demais.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Antes de iniciar, o sistema reapresenta a carga e o risco. A confirmação torna explícito que o status passará de Recebida para Em separação e que a ação será registrada. O operador também pode cancelar. No arquivo, esta confirmação é um frame de estado, não um modal nativo.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Após confirmar, a interface informa que Mariana Silva iniciou a separação às dez e cinco. A mensagem confirma o registro e direciona o operador à capacidade operacional. No cenário desenhado, a separação começa antes da confirmação da alocação; uma versão futura deve avaliar se a reserva precisa anteceder essa mudança.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painel mostra recebimento, separação, consolidação e pré-embarque. Cada área apresenta ocupação e limite. A Separação tem doze posições disponíveis; a Consolidação tem apenas uma. Como a SC-1042 exige quatro posições, podemos demonstrar tanto uma alocação possível quanto uma operação bloqueada.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simulação mostra o impacto da alocação: vinte e oito posições ocupadas passam a trinta e duas, dentro do limite de quarenta. O saldo será de oito posições. Até confirmar, não há reserva. Esse passo permite revisar o destino e cancelar sem alterar a ocupação.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cenário alternativo de erro. A Consolidação tem uma posição livre, mas a carga necessita de quatro. Faltam três posições e a operação é bloqueada, preservando a ocupação. O operador deve escolher outra área ou aguardar espaço. Não houve alocação parcial.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Após a confirmação, a Separação passa a ter trinta e duas das quarenta posições ocupadas, ou oitenta por cento. A interface confirma a alocação da SC-1042 e direciona ao acompanhamento. As demais áreas mantêm a ocupação do cenário inicial.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linha do tempo indica que a carga foi recebida e está em separação. O histórico inclui o início do processamento e a confirmação da alocação. O operador pode avançar para a próxima etapa permitida. A consulta do histórico dá rastreabilidade à movimentação.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estado demonstra a proteção da sequência operacional. Não é permitido saltar diretamente para uma etapa posterior. A carga deve passar por Recebida, Em separação, Consolidada e Pronta para embarque. O bloqueio explica o motivo e oferece retorno ao acompanhamento; no protótipo, o retorno leva aos detalhes iniciais.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carga avança para Consolidada e recebe um novo registro às dez e dezessete. A linha do tempo torna o progresso visível. O card de área ainda exibe Separação porque o protótipo não simula transferências físicas entre áreas. Status do processo e posição alocada são informações distintas neste cenário.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Às dez e vinte e sete, a carga está pronta para embarque e todas as etapas estão registradas. Isso conclui o escopo de processamento apresentado. Não significa que a aeronave decolou ou que houve entrega ao destinatário. A liberação de posições não foi simulada automaticamente.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operação termina em vinte e sete minutos, contra um prazo inicial de vinte. O atraso efetivo é de sete minutos. A carga deixa a lista de críticas ativas por estar pronta, mas a ocorrência não desaparece. O resultado demonstra rastreabilidade; não comprova que a solução eliminou atrasos.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relatório inicial apresenta a base histórica simulada: cem cargas concluídas, das quais noventa e duas no prazo. A ocupação média inicial das quatro áreas é de oitenta e dois vírgula cinco por cento. Os gráficos e ocorrências contextualizam a operação, mas são dados ilustrativos do protótipo.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filtro de turno mostra as quatro cargas do conjunto inicial, com peso total de mil cento e setenta quilos. Uma carga está pronta e uma é crítica. Este recorte não deve ser confundido com a base histórica de cem cargas. Na navegação do protótipo, o filtro abre um estado pré-definido.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 a SC-1042 concluída em atraso, a base histórica passa a cento e uma cargas e continua com noventa e duas no prazo. Por isso, o percentual cai para noventa e um vírgula um por cento. A ocupação média sobe para oitenta e cinco por cento. A média de trinta e um minutos é ilustrativa e não é derivável da base exibida; precisará ser recalculada com dados completos na implementação.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uma apresentação curta, siga este caminho e abra os cenários de exceção apenas quando necessário. Use os botões da jornada, pois o menu pode retornar aos estados iniciais. Cadastro e tentativa de alocação na Consolidação são ramos alternativos.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material enviado contém imagens exportadas. A apresentação explica esses estados sem verificar a navegação do arquivo Figma. Regras e dados são simulados. A SC-1042 termina com sete minutos de atraso; concluída não significa no prazo. Precisamos integrar estados, ajustar indicadores e testar com operadores antes de afirmar ganhos reais.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808975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DADOS SIMULADOS   /   VISÃO GERAL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01 / 32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156448"/>
            <a:ext cx="425767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400" b="1">
                <a:solidFill>
                  <a:srgbClr val="43CEEF"/>
                </a:solidFill>
                <a:latin typeface="Aptos"/>
              </a:defRPr>
            </a:pPr>
            <a:r>
              <a:t>VIRACOPOS  /  GESTÃO DE CARGAS AÉREAS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94560"/>
            <a:ext cx="82296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4900" b="1">
                <a:solidFill>
                  <a:srgbClr val="FFFFFF"/>
                </a:solidFill>
                <a:latin typeface="Aptos"/>
              </a:defRPr>
            </a:pPr>
            <a:r>
              <a:t>Cada carga.</a:t>
            </a:r>
          </a:p>
          <a:p>
            <a:pPr>
              <a:spcAft>
                <a:spcPts val="900"/>
              </a:spcAft>
              <a:defRPr sz="4900" b="1">
                <a:solidFill>
                  <a:srgbClr val="FFFFFF"/>
                </a:solidFill>
                <a:latin typeface="Aptos"/>
              </a:defRPr>
            </a:pPr>
            <a:r>
              <a:t>Uma decisão melhor.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937760"/>
            <a:ext cx="65836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300" b="0">
                <a:solidFill>
                  <a:srgbClr val="A6BDCF"/>
                </a:solidFill>
                <a:latin typeface="Aptos"/>
              </a:defRPr>
            </a:pPr>
            <a:r>
              <a:t>Prioridade, capacidade e acompanhamento</a:t>
            </a:r>
          </a:p>
          <a:p>
            <a:pPr>
              <a:spcAft>
                <a:spcPts val="900"/>
              </a:spcAft>
              <a:defRPr sz="2300" b="0">
                <a:solidFill>
                  <a:srgbClr val="A6BDCF"/>
                </a:solidFill>
                <a:latin typeface="Aptos"/>
              </a:defRPr>
            </a:pPr>
            <a:r>
              <a:t>em uma única jornada operacional.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26880" y="2103120"/>
            <a:ext cx="2926080" cy="36576"/>
          </a:xfrm>
          <a:prstGeom prst="rect">
            <a:avLst/>
          </a:prstGeom>
          <a:solidFill>
            <a:srgbClr val="2560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207240" y="2103120"/>
            <a:ext cx="36576" cy="2651760"/>
          </a:xfrm>
          <a:prstGeom prst="rect">
            <a:avLst/>
          </a:prstGeom>
          <a:solidFill>
            <a:srgbClr val="2560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26880" y="4709160"/>
            <a:ext cx="2926080" cy="36576"/>
          </a:xfrm>
          <a:prstGeom prst="rect">
            <a:avLst/>
          </a:prstGeom>
          <a:solidFill>
            <a:srgbClr val="2560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326880" y="4709160"/>
            <a:ext cx="36576" cy="1005840"/>
          </a:xfrm>
          <a:prstGeom prst="rect">
            <a:avLst/>
          </a:prstGeom>
          <a:solidFill>
            <a:srgbClr val="2560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0" y="1737360"/>
            <a:ext cx="2514600" cy="868680"/>
          </a:xfrm>
          <a:prstGeom prst="roundRect">
            <a:avLst>
              <a:gd name="adj" fmla="val 10000"/>
            </a:avLst>
          </a:prstGeom>
          <a:solidFill>
            <a:srgbClr val="0F36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33104" y="185623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43CEE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2011679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FFFFFF"/>
                </a:solidFill>
                <a:latin typeface="Aptos"/>
              </a:defRPr>
            </a:pPr>
            <a:r>
              <a:t>PRIORIZAR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21440" y="4389120"/>
            <a:ext cx="2514600" cy="868680"/>
          </a:xfrm>
          <a:prstGeom prst="roundRect">
            <a:avLst>
              <a:gd name="adj" fmla="val 10000"/>
            </a:avLst>
          </a:prstGeom>
          <a:solidFill>
            <a:srgbClr val="0F36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667744" y="450799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43CEE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0" y="46634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FFFFFF"/>
                </a:solidFill>
                <a:latin typeface="Aptos"/>
              </a:defRPr>
            </a:pPr>
            <a:r>
              <a:t>ALOCAR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0" y="5577840"/>
            <a:ext cx="2514600" cy="868680"/>
          </a:xfrm>
          <a:prstGeom prst="roundRect">
            <a:avLst>
              <a:gd name="adj" fmla="val 10000"/>
            </a:avLst>
          </a:prstGeom>
          <a:solidFill>
            <a:srgbClr val="0F36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33104" y="569671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43CEE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5852159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FFFFFF"/>
                </a:solidFill>
                <a:latin typeface="Aptos"/>
              </a:defRPr>
            </a:pPr>
            <a:r>
              <a:t>ACOMPANHAR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808975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DADOS SIMULADOS   /  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02 / 32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156448"/>
            <a:ext cx="851535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188720"/>
            <a:ext cx="12801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600" b="1">
                <a:solidFill>
                  <a:srgbClr val="FFFFFF"/>
                </a:solidFill>
                <a:latin typeface="Aptos"/>
              </a:defRPr>
            </a:pPr>
            <a:r>
              <a:t>Mais eficiência no espaço que já existe.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86000"/>
            <a:ext cx="11887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200" b="0">
                <a:solidFill>
                  <a:srgbClr val="A6BDCF"/>
                </a:solidFill>
                <a:latin typeface="Aptos"/>
              </a:defRPr>
            </a:pPr>
            <a:r>
              <a:t>A proposta conecta três decisões do operador no terminal de Viracopos.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566160"/>
            <a:ext cx="4251960" cy="3291840"/>
          </a:xfrm>
          <a:prstGeom prst="roundRect">
            <a:avLst>
              <a:gd name="adj" fmla="val 10000"/>
            </a:avLst>
          </a:prstGeom>
          <a:solidFill>
            <a:srgbClr val="0F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914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200" b="1">
                <a:solidFill>
                  <a:srgbClr val="43CEE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617720"/>
            <a:ext cx="3749039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FFFFFF"/>
                </a:solidFill>
                <a:latin typeface="Aptos"/>
              </a:defRPr>
            </a:pPr>
            <a:r>
              <a:t>O que tratar primeiro?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532120"/>
            <a:ext cx="3703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100" b="0">
                <a:solidFill>
                  <a:srgbClr val="A6BDCF"/>
                </a:solidFill>
                <a:latin typeface="Aptos"/>
              </a:defRPr>
            </a:pPr>
            <a:r>
              <a:t>Prioridade calculada pela margem entre prazo e estimativa.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3566160"/>
            <a:ext cx="4251960" cy="3291840"/>
          </a:xfrm>
          <a:prstGeom prst="roundRect">
            <a:avLst>
              <a:gd name="adj" fmla="val 10000"/>
            </a:avLst>
          </a:prstGeom>
          <a:solidFill>
            <a:srgbClr val="0F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0" y="3794760"/>
            <a:ext cx="914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200" b="1">
                <a:solidFill>
                  <a:srgbClr val="43CEE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4617720"/>
            <a:ext cx="3749039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FFFFFF"/>
                </a:solidFill>
                <a:latin typeface="Aptos"/>
              </a:defRPr>
            </a:pPr>
            <a:r>
              <a:t>Onde alocar?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5532120"/>
            <a:ext cx="3703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100" b="0">
                <a:solidFill>
                  <a:srgbClr val="A6BDCF"/>
                </a:solidFill>
                <a:latin typeface="Aptos"/>
              </a:defRPr>
            </a:pPr>
            <a:r>
              <a:t>Visibilidade de ocupação para respeitar o limite das áreas.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29800" y="3566160"/>
            <a:ext cx="4251960" cy="3291840"/>
          </a:xfrm>
          <a:prstGeom prst="roundRect">
            <a:avLst>
              <a:gd name="adj" fmla="val 10000"/>
            </a:avLst>
          </a:prstGeom>
          <a:solidFill>
            <a:srgbClr val="0F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0" y="3794760"/>
            <a:ext cx="914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200" b="1">
                <a:solidFill>
                  <a:srgbClr val="43CEE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4617720"/>
            <a:ext cx="3749039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FFFFFF"/>
                </a:solidFill>
                <a:latin typeface="Aptos"/>
              </a:defRPr>
            </a:pPr>
            <a:r>
              <a:t>Em que etapa está?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5532120"/>
            <a:ext cx="3703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100" b="0">
                <a:solidFill>
                  <a:srgbClr val="A6BDCF"/>
                </a:solidFill>
                <a:latin typeface="Aptos"/>
              </a:defRPr>
            </a:pPr>
            <a:r>
              <a:t>Acompanhamento sequencial com histórico e ocorrências.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808975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DADOS SIMULADOS   /   ACESSO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03 / 32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156448"/>
            <a:ext cx="1277302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3533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FFFFFF"/>
                </a:solidFill>
                <a:latin typeface="Aptos"/>
              </a:defRPr>
            </a:pPr>
            <a:r>
              <a:t>Login / Acesso à operação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071E35"/>
                </a:solidFill>
                <a:latin typeface="Aptos"/>
              </a:defRPr>
            </a:pPr>
            <a:r>
              <a:t>ACESSO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16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GESTÃO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2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PRIORIDADE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CAPACIDADE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74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EXECUÇÃO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97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6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RESULTADOS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542032"/>
            <a:ext cx="8065007" cy="5246369"/>
          </a:xfrm>
          <a:prstGeom prst="roundRect">
            <a:avLst>
              <a:gd name="adj" fmla="val 10000"/>
            </a:avLst>
          </a:prstGeom>
          <a:solidFill>
            <a:srgbClr val="02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2423160"/>
            <a:ext cx="7955279" cy="265176"/>
          </a:xfrm>
          <a:prstGeom prst="roundRect">
            <a:avLst>
              <a:gd name="adj" fmla="val 10000"/>
            </a:avLst>
          </a:prstGeom>
          <a:solidFill>
            <a:srgbClr val="254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94944" y="2514600"/>
            <a:ext cx="59436" cy="59436"/>
          </a:xfrm>
          <a:prstGeom prst="ellipse">
            <a:avLst/>
          </a:prstGeom>
          <a:solidFill>
            <a:srgbClr val="EF6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" y="2514600"/>
            <a:ext cx="59436" cy="59436"/>
          </a:xfrm>
          <a:prstGeom prst="ellipse">
            <a:avLst/>
          </a:prstGeom>
          <a:solidFill>
            <a:srgbClr val="E8B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" y="2514600"/>
            <a:ext cx="59436" cy="59436"/>
          </a:xfrm>
          <a:prstGeom prst="ellipse">
            <a:avLst/>
          </a:prstGeom>
          <a:solidFill>
            <a:srgbClr val="63C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7320" y="2478024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A6BDCF"/>
                </a:solidFill>
                <a:latin typeface="Aptos"/>
              </a:defRPr>
            </a:pPr>
            <a:r>
              <a:t>SMARTCARGO   /   LOGIN</a:t>
            </a:r>
          </a:p>
        </p:txBody>
      </p:sp>
      <p:pic>
        <p:nvPicPr>
          <p:cNvPr id="27" name="Picture 26" descr="login • Acesso à operaçã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88336"/>
            <a:ext cx="7955279" cy="497204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89720" y="2432304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43CEEF"/>
                </a:solidFill>
                <a:latin typeface="Aptos"/>
              </a:defRPr>
            </a:pPr>
            <a:r>
              <a:t>POR QUE ESTA TELA EXISTE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2852928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FFFFFF"/>
                </a:solidFill>
                <a:latin typeface="Aptos"/>
              </a:defRPr>
            </a:pPr>
            <a:r>
              <a:t>Identificar o operador e apresentar o sistema.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89720" y="4270248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12" y="446227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30384" y="4434840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E-mail e senha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9720" y="5221224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54312" y="541324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5385816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Identidade Azul SmartCargo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9720" y="6172200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54312" y="636422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0384" y="6336792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Entrada na demonstração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808975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DADOS SIMULADOS   /   ACESSO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04 / 32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156448"/>
            <a:ext cx="1703070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3533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FFFFFF"/>
                </a:solidFill>
                <a:latin typeface="Aptos"/>
              </a:defRPr>
            </a:pPr>
            <a:r>
              <a:t>Dashboard operacional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071E35"/>
                </a:solidFill>
                <a:latin typeface="Aptos"/>
              </a:defRPr>
            </a:pPr>
            <a:r>
              <a:t>ACESSO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16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GESTÃO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2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PRIORIDADE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CAPACIDADE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74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EXECUÇÃO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97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6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RESULTADOS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542032"/>
            <a:ext cx="8065007" cy="5246369"/>
          </a:xfrm>
          <a:prstGeom prst="roundRect">
            <a:avLst>
              <a:gd name="adj" fmla="val 10000"/>
            </a:avLst>
          </a:prstGeom>
          <a:solidFill>
            <a:srgbClr val="02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2423160"/>
            <a:ext cx="7955279" cy="265176"/>
          </a:xfrm>
          <a:prstGeom prst="roundRect">
            <a:avLst>
              <a:gd name="adj" fmla="val 10000"/>
            </a:avLst>
          </a:prstGeom>
          <a:solidFill>
            <a:srgbClr val="254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94944" y="2514600"/>
            <a:ext cx="59436" cy="59436"/>
          </a:xfrm>
          <a:prstGeom prst="ellipse">
            <a:avLst/>
          </a:prstGeom>
          <a:solidFill>
            <a:srgbClr val="EF6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" y="2514600"/>
            <a:ext cx="59436" cy="59436"/>
          </a:xfrm>
          <a:prstGeom prst="ellipse">
            <a:avLst/>
          </a:prstGeom>
          <a:solidFill>
            <a:srgbClr val="E8B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" y="2514600"/>
            <a:ext cx="59436" cy="59436"/>
          </a:xfrm>
          <a:prstGeom prst="ellipse">
            <a:avLst/>
          </a:prstGeom>
          <a:solidFill>
            <a:srgbClr val="63C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7320" y="2478024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A6BDCF"/>
                </a:solidFill>
                <a:latin typeface="Aptos"/>
              </a:defRPr>
            </a:pPr>
            <a:r>
              <a:t>SMARTCARGO   /   DASHBOARD</a:t>
            </a:r>
          </a:p>
        </p:txBody>
      </p:sp>
      <p:pic>
        <p:nvPicPr>
          <p:cNvPr id="27" name="Picture 26" descr="dashboard • Dashboard oper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88336"/>
            <a:ext cx="7955279" cy="497204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89720" y="2432304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43CEEF"/>
                </a:solidFill>
                <a:latin typeface="Aptos"/>
              </a:defRPr>
            </a:pPr>
            <a:r>
              <a:t>POR QUE ESTA TELA EXISTE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2852928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FFFFFF"/>
                </a:solidFill>
                <a:latin typeface="Aptos"/>
              </a:defRPr>
            </a:pPr>
            <a:r>
              <a:t>Transformar dados do terminal em prioridades de ação.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89720" y="4270248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12" y="446227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30384" y="4434840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3 cargas ativas; 2 prioritárias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9720" y="5221224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54312" y="541324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5385816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1 carga crítica: SC-1042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9720" y="6172200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54312" y="636422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0384" y="6336792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92% no prazo na base histórica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808975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DADOS SIMULADOS   /   ACESSO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05 / 32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156448"/>
            <a:ext cx="2128837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3533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FFFFFF"/>
                </a:solidFill>
                <a:latin typeface="Aptos"/>
              </a:defRPr>
            </a:pPr>
            <a:r>
              <a:t>Central de notificações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071E35"/>
                </a:solidFill>
                <a:latin typeface="Aptos"/>
              </a:defRPr>
            </a:pPr>
            <a:r>
              <a:t>ACESSO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16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GESTÃO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2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PRIORIDADE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CAPACIDADE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74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EXECUÇÃO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97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6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RESULTADOS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542032"/>
            <a:ext cx="8065007" cy="5246369"/>
          </a:xfrm>
          <a:prstGeom prst="roundRect">
            <a:avLst>
              <a:gd name="adj" fmla="val 10000"/>
            </a:avLst>
          </a:prstGeom>
          <a:solidFill>
            <a:srgbClr val="02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2423160"/>
            <a:ext cx="7955279" cy="265176"/>
          </a:xfrm>
          <a:prstGeom prst="roundRect">
            <a:avLst>
              <a:gd name="adj" fmla="val 10000"/>
            </a:avLst>
          </a:prstGeom>
          <a:solidFill>
            <a:srgbClr val="254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94944" y="2514600"/>
            <a:ext cx="59436" cy="59436"/>
          </a:xfrm>
          <a:prstGeom prst="ellipse">
            <a:avLst/>
          </a:prstGeom>
          <a:solidFill>
            <a:srgbClr val="EF6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" y="2514600"/>
            <a:ext cx="59436" cy="59436"/>
          </a:xfrm>
          <a:prstGeom prst="ellipse">
            <a:avLst/>
          </a:prstGeom>
          <a:solidFill>
            <a:srgbClr val="E8B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" y="2514600"/>
            <a:ext cx="59436" cy="59436"/>
          </a:xfrm>
          <a:prstGeom prst="ellipse">
            <a:avLst/>
          </a:prstGeom>
          <a:solidFill>
            <a:srgbClr val="63C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7320" y="2478024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A6BDCF"/>
                </a:solidFill>
                <a:latin typeface="Aptos"/>
              </a:defRPr>
            </a:pPr>
            <a:r>
              <a:t>SMARTCARGO   /   AVISOS</a:t>
            </a:r>
          </a:p>
        </p:txBody>
      </p:sp>
      <p:pic>
        <p:nvPicPr>
          <p:cNvPr id="27" name="Picture 26" descr="avisos • Central de notificaçõ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88336"/>
            <a:ext cx="7955279" cy="497204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89720" y="2432304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43CEEF"/>
                </a:solidFill>
                <a:latin typeface="Aptos"/>
              </a:defRPr>
            </a:pPr>
            <a:r>
              <a:t>POR QUE ESTA TELA EXISTE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2852928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FFFFFF"/>
                </a:solidFill>
                <a:latin typeface="Aptos"/>
              </a:defRPr>
            </a:pPr>
            <a:r>
              <a:t>Reunir situações que exigem atenção.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89720" y="4270248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12" y="446227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30384" y="4434840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Risco de atraso da SC-1042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9720" y="5221224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54312" y="541324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5385816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Consolidação com 95% de ocupação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9720" y="6172200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54312" y="636422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0384" y="6336792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SC-1045 pronta para embarque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808975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DADOS SIMULADOS   /   GESTÃO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06 / 32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156448"/>
            <a:ext cx="2554605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3533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FFFFFF"/>
                </a:solidFill>
                <a:latin typeface="Aptos"/>
              </a:defRPr>
            </a:pPr>
            <a:r>
              <a:t>Gestão de cargas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ACESSO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16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071E35"/>
                </a:solidFill>
                <a:latin typeface="Aptos"/>
              </a:defRPr>
            </a:pPr>
            <a:r>
              <a:t>GESTÃO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2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PRIORIDADE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CAPACIDADE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74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EXECUÇÃO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97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6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RESULTADOS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542032"/>
            <a:ext cx="8065007" cy="5246369"/>
          </a:xfrm>
          <a:prstGeom prst="roundRect">
            <a:avLst>
              <a:gd name="adj" fmla="val 10000"/>
            </a:avLst>
          </a:prstGeom>
          <a:solidFill>
            <a:srgbClr val="02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2423160"/>
            <a:ext cx="7955279" cy="265176"/>
          </a:xfrm>
          <a:prstGeom prst="roundRect">
            <a:avLst>
              <a:gd name="adj" fmla="val 10000"/>
            </a:avLst>
          </a:prstGeom>
          <a:solidFill>
            <a:srgbClr val="254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94944" y="2514600"/>
            <a:ext cx="59436" cy="59436"/>
          </a:xfrm>
          <a:prstGeom prst="ellipse">
            <a:avLst/>
          </a:prstGeom>
          <a:solidFill>
            <a:srgbClr val="EF6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" y="2514600"/>
            <a:ext cx="59436" cy="59436"/>
          </a:xfrm>
          <a:prstGeom prst="ellipse">
            <a:avLst/>
          </a:prstGeom>
          <a:solidFill>
            <a:srgbClr val="E8B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" y="2514600"/>
            <a:ext cx="59436" cy="59436"/>
          </a:xfrm>
          <a:prstGeom prst="ellipse">
            <a:avLst/>
          </a:prstGeom>
          <a:solidFill>
            <a:srgbClr val="63C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7320" y="2478024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A6BDCF"/>
                </a:solidFill>
                <a:latin typeface="Aptos"/>
              </a:defRPr>
            </a:pPr>
            <a:r>
              <a:t>SMARTCARGO   /   CARGAS</a:t>
            </a:r>
          </a:p>
        </p:txBody>
      </p:sp>
      <p:pic>
        <p:nvPicPr>
          <p:cNvPr id="27" name="Picture 26" descr="cargas • Gestão de carg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88336"/>
            <a:ext cx="7955279" cy="497204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89720" y="2432304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43CEEF"/>
                </a:solidFill>
                <a:latin typeface="Aptos"/>
              </a:defRPr>
            </a:pPr>
            <a:r>
              <a:t>POR QUE ESTA TELA EXISTE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2852928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FFFFFF"/>
                </a:solidFill>
                <a:latin typeface="Aptos"/>
              </a:defRPr>
            </a:pPr>
            <a:r>
              <a:t>Centralizar consulta e manutenção dos registros.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89720" y="4270248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12" y="446227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30384" y="4434840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Código, AWB, destino e voo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9720" y="5221224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54312" y="541324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5385816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Peso, status e prioridade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9720" y="6172200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54312" y="636422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0384" y="6336792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Pesquisa, filtros e cadastro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808975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DADOS SIMULADOS   /   GESTÃO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07 / 32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156448"/>
            <a:ext cx="2980372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3533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FFFFFF"/>
                </a:solidFill>
                <a:latin typeface="Aptos"/>
              </a:defRPr>
            </a:pPr>
            <a:r>
              <a:t>Resultado da busca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ACESSO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16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071E35"/>
                </a:solidFill>
                <a:latin typeface="Aptos"/>
              </a:defRPr>
            </a:pPr>
            <a:r>
              <a:t>GESTÃO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2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PRIORIDADE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CAPACIDADE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74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EXECUÇÃO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97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6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RESULTADOS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542032"/>
            <a:ext cx="8065007" cy="5246369"/>
          </a:xfrm>
          <a:prstGeom prst="roundRect">
            <a:avLst>
              <a:gd name="adj" fmla="val 10000"/>
            </a:avLst>
          </a:prstGeom>
          <a:solidFill>
            <a:srgbClr val="02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2423160"/>
            <a:ext cx="7955279" cy="265176"/>
          </a:xfrm>
          <a:prstGeom prst="roundRect">
            <a:avLst>
              <a:gd name="adj" fmla="val 10000"/>
            </a:avLst>
          </a:prstGeom>
          <a:solidFill>
            <a:srgbClr val="254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94944" y="2514600"/>
            <a:ext cx="59436" cy="59436"/>
          </a:xfrm>
          <a:prstGeom prst="ellipse">
            <a:avLst/>
          </a:prstGeom>
          <a:solidFill>
            <a:srgbClr val="EF6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" y="2514600"/>
            <a:ext cx="59436" cy="59436"/>
          </a:xfrm>
          <a:prstGeom prst="ellipse">
            <a:avLst/>
          </a:prstGeom>
          <a:solidFill>
            <a:srgbClr val="E8B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" y="2514600"/>
            <a:ext cx="59436" cy="59436"/>
          </a:xfrm>
          <a:prstGeom prst="ellipse">
            <a:avLst/>
          </a:prstGeom>
          <a:solidFill>
            <a:srgbClr val="63C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7320" y="2478024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A6BDCF"/>
                </a:solidFill>
                <a:latin typeface="Aptos"/>
              </a:defRPr>
            </a:pPr>
            <a:r>
              <a:t>SMARTCARGO   /   BUSCA</a:t>
            </a:r>
          </a:p>
        </p:txBody>
      </p:sp>
      <p:pic>
        <p:nvPicPr>
          <p:cNvPr id="27" name="Picture 26" descr="busca • Resultado da bus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88336"/>
            <a:ext cx="7955279" cy="497204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89720" y="2432304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43CEEF"/>
                </a:solidFill>
                <a:latin typeface="Aptos"/>
              </a:defRPr>
            </a:pPr>
            <a:r>
              <a:t>POR QUE ESTA TELA EXISTE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2852928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FFFFFF"/>
                </a:solidFill>
                <a:latin typeface="Aptos"/>
              </a:defRPr>
            </a:pPr>
            <a:r>
              <a:t>Encontrar rapidamente a carga relevante.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89720" y="4270248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12" y="446227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30384" y="4434840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Filtro de prioridade crítica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9720" y="5221224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54312" y="541324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5385816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SC-1042 como resultado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9720" y="6172200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54312" y="636422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0384" y="6336792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Limpar filtros para retornar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808975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DADOS SIMULADOS   /   GESTÃO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08 / 32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156448"/>
            <a:ext cx="3406140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3533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FFFFFF"/>
                </a:solidFill>
                <a:latin typeface="Aptos"/>
              </a:defRPr>
            </a:pPr>
            <a:r>
              <a:t>Cadastro de carga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ACESSO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16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071E35"/>
                </a:solidFill>
                <a:latin typeface="Aptos"/>
              </a:defRPr>
            </a:pPr>
            <a:r>
              <a:t>GESTÃO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2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PRIORIDADE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CAPACIDADE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74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EXECUÇÃO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97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6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RESULTADOS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542032"/>
            <a:ext cx="8065007" cy="5246369"/>
          </a:xfrm>
          <a:prstGeom prst="roundRect">
            <a:avLst>
              <a:gd name="adj" fmla="val 10000"/>
            </a:avLst>
          </a:prstGeom>
          <a:solidFill>
            <a:srgbClr val="02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2423160"/>
            <a:ext cx="7955279" cy="265176"/>
          </a:xfrm>
          <a:prstGeom prst="roundRect">
            <a:avLst>
              <a:gd name="adj" fmla="val 10000"/>
            </a:avLst>
          </a:prstGeom>
          <a:solidFill>
            <a:srgbClr val="254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94944" y="2514600"/>
            <a:ext cx="59436" cy="59436"/>
          </a:xfrm>
          <a:prstGeom prst="ellipse">
            <a:avLst/>
          </a:prstGeom>
          <a:solidFill>
            <a:srgbClr val="EF6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" y="2514600"/>
            <a:ext cx="59436" cy="59436"/>
          </a:xfrm>
          <a:prstGeom prst="ellipse">
            <a:avLst/>
          </a:prstGeom>
          <a:solidFill>
            <a:srgbClr val="E8B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" y="2514600"/>
            <a:ext cx="59436" cy="59436"/>
          </a:xfrm>
          <a:prstGeom prst="ellipse">
            <a:avLst/>
          </a:prstGeom>
          <a:solidFill>
            <a:srgbClr val="63C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7320" y="2478024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A6BDCF"/>
                </a:solidFill>
                <a:latin typeface="Aptos"/>
              </a:defRPr>
            </a:pPr>
            <a:r>
              <a:t>SMARTCARGO   /   CADASTRO</a:t>
            </a:r>
          </a:p>
        </p:txBody>
      </p:sp>
      <p:pic>
        <p:nvPicPr>
          <p:cNvPr id="27" name="Picture 26" descr="cadastro • Cadastrar car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88336"/>
            <a:ext cx="7955279" cy="497204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89720" y="2432304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43CEEF"/>
                </a:solidFill>
                <a:latin typeface="Aptos"/>
              </a:defRPr>
            </a:pPr>
            <a:r>
              <a:t>POR QUE ESTA TELA EXISTE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2852928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FFFFFF"/>
                </a:solidFill>
                <a:latin typeface="Aptos"/>
              </a:defRPr>
            </a:pPr>
            <a:r>
              <a:t>Registrar os dados necessários ao planejamento.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89720" y="4270248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12" y="446227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30384" y="4434840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Identificação, destino e voo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9720" y="5221224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54312" y="541324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5385816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Peso, prazo e estimativa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9720" y="6172200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54312" y="636422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0384" y="6336792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Validar antes de salvar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808975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DADOS SIMULADOS   /   GESTÃO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09 / 32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156448"/>
            <a:ext cx="3831907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3533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FFFFFF"/>
                </a:solidFill>
                <a:latin typeface="Aptos"/>
              </a:defRPr>
            </a:pPr>
            <a:r>
              <a:t>Validação do cadastro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ACESSO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16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071E35"/>
                </a:solidFill>
                <a:latin typeface="Aptos"/>
              </a:defRPr>
            </a:pPr>
            <a:r>
              <a:t>GESTÃO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2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PRIORIDADE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CAPACIDADE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74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EXECUÇÃO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97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6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RESULTADOS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542032"/>
            <a:ext cx="8065007" cy="5246369"/>
          </a:xfrm>
          <a:prstGeom prst="roundRect">
            <a:avLst>
              <a:gd name="adj" fmla="val 10000"/>
            </a:avLst>
          </a:prstGeom>
          <a:solidFill>
            <a:srgbClr val="02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2423160"/>
            <a:ext cx="7955279" cy="265176"/>
          </a:xfrm>
          <a:prstGeom prst="roundRect">
            <a:avLst>
              <a:gd name="adj" fmla="val 10000"/>
            </a:avLst>
          </a:prstGeom>
          <a:solidFill>
            <a:srgbClr val="254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94944" y="2514600"/>
            <a:ext cx="59436" cy="59436"/>
          </a:xfrm>
          <a:prstGeom prst="ellipse">
            <a:avLst/>
          </a:prstGeom>
          <a:solidFill>
            <a:srgbClr val="EF6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" y="2514600"/>
            <a:ext cx="59436" cy="59436"/>
          </a:xfrm>
          <a:prstGeom prst="ellipse">
            <a:avLst/>
          </a:prstGeom>
          <a:solidFill>
            <a:srgbClr val="E8B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" y="2514600"/>
            <a:ext cx="59436" cy="59436"/>
          </a:xfrm>
          <a:prstGeom prst="ellipse">
            <a:avLst/>
          </a:prstGeom>
          <a:solidFill>
            <a:srgbClr val="63C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7320" y="2478024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A6BDCF"/>
                </a:solidFill>
                <a:latin typeface="Aptos"/>
              </a:defRPr>
            </a:pPr>
            <a:r>
              <a:t>SMARTCARGO   /   VALIDACAO</a:t>
            </a:r>
          </a:p>
        </p:txBody>
      </p:sp>
      <p:pic>
        <p:nvPicPr>
          <p:cNvPr id="27" name="Picture 26" descr="validacao • Validação do cadas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88336"/>
            <a:ext cx="7955279" cy="497204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89720" y="2432304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43CEEF"/>
                </a:solidFill>
                <a:latin typeface="Aptos"/>
              </a:defRPr>
            </a:pPr>
            <a:r>
              <a:t>POR QUE ESTA TELA EXISTE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2852928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FFFFFF"/>
                </a:solidFill>
                <a:latin typeface="Aptos"/>
              </a:defRPr>
            </a:pPr>
            <a:r>
              <a:t>Evitar informações incompletas ou inválidas.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89720" y="4270248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12" y="446227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30384" y="4434840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AWB no formato esperado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9720" y="5221224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54312" y="541324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5385816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Peso maior que zero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9720" y="6172200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54312" y="636422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0384" y="6336792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Minutos positivos e campos obrigatórios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808975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DADOS SIMULADOS   /   GESTÃO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10 / 32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156448"/>
            <a:ext cx="4257675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3533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FFFFFF"/>
                </a:solidFill>
                <a:latin typeface="Aptos"/>
              </a:defRPr>
            </a:pPr>
            <a:r>
              <a:t>Cadastro concluído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ACESSO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16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071E35"/>
                </a:solidFill>
                <a:latin typeface="Aptos"/>
              </a:defRPr>
            </a:pPr>
            <a:r>
              <a:t>GESTÃO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2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PRIORIDADE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CAPACIDADE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74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EXECUÇÃO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97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6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RESULTADOS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542032"/>
            <a:ext cx="8065007" cy="5246369"/>
          </a:xfrm>
          <a:prstGeom prst="roundRect">
            <a:avLst>
              <a:gd name="adj" fmla="val 10000"/>
            </a:avLst>
          </a:prstGeom>
          <a:solidFill>
            <a:srgbClr val="02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2423160"/>
            <a:ext cx="7955279" cy="265176"/>
          </a:xfrm>
          <a:prstGeom prst="roundRect">
            <a:avLst>
              <a:gd name="adj" fmla="val 10000"/>
            </a:avLst>
          </a:prstGeom>
          <a:solidFill>
            <a:srgbClr val="254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94944" y="2514600"/>
            <a:ext cx="59436" cy="59436"/>
          </a:xfrm>
          <a:prstGeom prst="ellipse">
            <a:avLst/>
          </a:prstGeom>
          <a:solidFill>
            <a:srgbClr val="EF6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" y="2514600"/>
            <a:ext cx="59436" cy="59436"/>
          </a:xfrm>
          <a:prstGeom prst="ellipse">
            <a:avLst/>
          </a:prstGeom>
          <a:solidFill>
            <a:srgbClr val="E8B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" y="2514600"/>
            <a:ext cx="59436" cy="59436"/>
          </a:xfrm>
          <a:prstGeom prst="ellipse">
            <a:avLst/>
          </a:prstGeom>
          <a:solidFill>
            <a:srgbClr val="63C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7320" y="2478024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A6BDCF"/>
                </a:solidFill>
                <a:latin typeface="Aptos"/>
              </a:defRPr>
            </a:pPr>
            <a:r>
              <a:t>SMARTCARGO   /   CADASTRO-OK</a:t>
            </a:r>
          </a:p>
        </p:txBody>
      </p:sp>
      <p:pic>
        <p:nvPicPr>
          <p:cNvPr id="27" name="Picture 26" descr="cadastro-ok • Carga cadast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88336"/>
            <a:ext cx="7955279" cy="497204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89720" y="2432304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43CEEF"/>
                </a:solidFill>
                <a:latin typeface="Aptos"/>
              </a:defRPr>
            </a:pPr>
            <a:r>
              <a:t>POR QUE ESTA TELA EXISTE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2852928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FFFFFF"/>
                </a:solidFill>
                <a:latin typeface="Aptos"/>
              </a:defRPr>
            </a:pPr>
            <a:r>
              <a:t>Confirmar o registro e sua classificação.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89720" y="4270248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12" y="446227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30384" y="4434840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SC-1046: BSB / AD 4102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9720" y="5221224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54312" y="541324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5385816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90 − 40 = 50 minutos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9720" y="6172200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54312" y="636422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0384" y="6336792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Prioridade normal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808975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DADOS SIMULADOS   /   GESTÃO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11 / 32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156448"/>
            <a:ext cx="4683442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3533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FFFFFF"/>
                </a:solidFill>
                <a:latin typeface="Aptos"/>
              </a:defRPr>
            </a:pPr>
            <a:r>
              <a:t>Detalhes da carga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ACESSO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16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071E35"/>
                </a:solidFill>
                <a:latin typeface="Aptos"/>
              </a:defRPr>
            </a:pPr>
            <a:r>
              <a:t>GESTÃO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2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PRIORIDADE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CAPACIDADE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74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EXECUÇÃO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97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6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RESULTADOS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542032"/>
            <a:ext cx="8065007" cy="5246369"/>
          </a:xfrm>
          <a:prstGeom prst="roundRect">
            <a:avLst>
              <a:gd name="adj" fmla="val 10000"/>
            </a:avLst>
          </a:prstGeom>
          <a:solidFill>
            <a:srgbClr val="02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2423160"/>
            <a:ext cx="7955279" cy="265176"/>
          </a:xfrm>
          <a:prstGeom prst="roundRect">
            <a:avLst>
              <a:gd name="adj" fmla="val 10000"/>
            </a:avLst>
          </a:prstGeom>
          <a:solidFill>
            <a:srgbClr val="254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94944" y="2514600"/>
            <a:ext cx="59436" cy="59436"/>
          </a:xfrm>
          <a:prstGeom prst="ellipse">
            <a:avLst/>
          </a:prstGeom>
          <a:solidFill>
            <a:srgbClr val="EF6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" y="2514600"/>
            <a:ext cx="59436" cy="59436"/>
          </a:xfrm>
          <a:prstGeom prst="ellipse">
            <a:avLst/>
          </a:prstGeom>
          <a:solidFill>
            <a:srgbClr val="E8B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" y="2514600"/>
            <a:ext cx="59436" cy="59436"/>
          </a:xfrm>
          <a:prstGeom prst="ellipse">
            <a:avLst/>
          </a:prstGeom>
          <a:solidFill>
            <a:srgbClr val="63C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7320" y="2478024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A6BDCF"/>
                </a:solidFill>
                <a:latin typeface="Aptos"/>
              </a:defRPr>
            </a:pPr>
            <a:r>
              <a:t>SMARTCARGO   /   DETALHES</a:t>
            </a:r>
          </a:p>
        </p:txBody>
      </p:sp>
      <p:pic>
        <p:nvPicPr>
          <p:cNvPr id="27" name="Picture 26" descr="detalhes • Detalhes • SC-10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88336"/>
            <a:ext cx="7955279" cy="497204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89720" y="2432304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43CEEF"/>
                </a:solidFill>
                <a:latin typeface="Aptos"/>
              </a:defRPr>
            </a:pPr>
            <a:r>
              <a:t>POR QUE ESTA TELA EXISTE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2852928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FFFFFF"/>
                </a:solidFill>
                <a:latin typeface="Aptos"/>
              </a:defRPr>
            </a:pPr>
            <a:r>
              <a:t>Oferecer uma visão individual e rastreável.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89720" y="4270248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12" y="446227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30384" y="4434840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SC-1042: REC / AD 4170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9720" y="5221224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54312" y="541324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5385816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Recebida, com margem de −15 min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9720" y="6172200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54312" y="636422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0384" y="6336792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Linha do tempo e histórico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808975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DADOS SIMULADOS   /   GESTÃO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12 / 32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156448"/>
            <a:ext cx="5109210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3533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FFFFFF"/>
                </a:solidFill>
                <a:latin typeface="Aptos"/>
              </a:defRPr>
            </a:pPr>
            <a:r>
              <a:t>Edição da carga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ACESSO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16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071E35"/>
                </a:solidFill>
                <a:latin typeface="Aptos"/>
              </a:defRPr>
            </a:pPr>
            <a:r>
              <a:t>GESTÃO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2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PRIORIDADE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CAPACIDADE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74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EXECUÇÃO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97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6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RESULTADOS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542032"/>
            <a:ext cx="8065007" cy="5246369"/>
          </a:xfrm>
          <a:prstGeom prst="roundRect">
            <a:avLst>
              <a:gd name="adj" fmla="val 10000"/>
            </a:avLst>
          </a:prstGeom>
          <a:solidFill>
            <a:srgbClr val="02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2423160"/>
            <a:ext cx="7955279" cy="265176"/>
          </a:xfrm>
          <a:prstGeom prst="roundRect">
            <a:avLst>
              <a:gd name="adj" fmla="val 10000"/>
            </a:avLst>
          </a:prstGeom>
          <a:solidFill>
            <a:srgbClr val="254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94944" y="2514600"/>
            <a:ext cx="59436" cy="59436"/>
          </a:xfrm>
          <a:prstGeom prst="ellipse">
            <a:avLst/>
          </a:prstGeom>
          <a:solidFill>
            <a:srgbClr val="EF6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" y="2514600"/>
            <a:ext cx="59436" cy="59436"/>
          </a:xfrm>
          <a:prstGeom prst="ellipse">
            <a:avLst/>
          </a:prstGeom>
          <a:solidFill>
            <a:srgbClr val="E8B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" y="2514600"/>
            <a:ext cx="59436" cy="59436"/>
          </a:xfrm>
          <a:prstGeom prst="ellipse">
            <a:avLst/>
          </a:prstGeom>
          <a:solidFill>
            <a:srgbClr val="63C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7320" y="2478024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A6BDCF"/>
                </a:solidFill>
                <a:latin typeface="Aptos"/>
              </a:defRPr>
            </a:pPr>
            <a:r>
              <a:t>SMARTCARGO   /   EDITAR</a:t>
            </a:r>
          </a:p>
        </p:txBody>
      </p:sp>
      <p:pic>
        <p:nvPicPr>
          <p:cNvPr id="27" name="Picture 26" descr="editar • Editar SC-10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88336"/>
            <a:ext cx="7955279" cy="497204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89720" y="2432304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43CEEF"/>
                </a:solidFill>
                <a:latin typeface="Aptos"/>
              </a:defRPr>
            </a:pPr>
            <a:r>
              <a:t>POR QUE ESTA TELA EXISTE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2852928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FFFFFF"/>
                </a:solidFill>
                <a:latin typeface="Aptos"/>
              </a:defRPr>
            </a:pPr>
            <a:r>
              <a:t>Demonstrar a revisão dos dados operacionais.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89720" y="4270248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12" y="446227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30384" y="4434840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Destino, voo, peso e prazo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9720" y="5221224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54312" y="541324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5385816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Preservação dos dados do cenário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9720" y="6172200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54312" y="636422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0384" y="6336792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Prioridade calculada pelas regras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808975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DADOS SIMULADOS   /   PRIORIDADE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13 / 32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156448"/>
            <a:ext cx="5534977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3533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FFFFFF"/>
                </a:solidFill>
                <a:latin typeface="Aptos"/>
              </a:defRPr>
            </a:pPr>
            <a:r>
              <a:t>Fila inteligente de priorização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ACESSO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16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GESTÃO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2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071E35"/>
                </a:solidFill>
                <a:latin typeface="Aptos"/>
              </a:defRPr>
            </a:pPr>
            <a:r>
              <a:t>PRIORIDADE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CAPACIDADE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74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EXECUÇÃO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97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6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RESULTADOS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542032"/>
            <a:ext cx="8065007" cy="5246369"/>
          </a:xfrm>
          <a:prstGeom prst="roundRect">
            <a:avLst>
              <a:gd name="adj" fmla="val 10000"/>
            </a:avLst>
          </a:prstGeom>
          <a:solidFill>
            <a:srgbClr val="02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2423160"/>
            <a:ext cx="7955279" cy="265176"/>
          </a:xfrm>
          <a:prstGeom prst="roundRect">
            <a:avLst>
              <a:gd name="adj" fmla="val 10000"/>
            </a:avLst>
          </a:prstGeom>
          <a:solidFill>
            <a:srgbClr val="254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94944" y="2514600"/>
            <a:ext cx="59436" cy="59436"/>
          </a:xfrm>
          <a:prstGeom prst="ellipse">
            <a:avLst/>
          </a:prstGeom>
          <a:solidFill>
            <a:srgbClr val="EF6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" y="2514600"/>
            <a:ext cx="59436" cy="59436"/>
          </a:xfrm>
          <a:prstGeom prst="ellipse">
            <a:avLst/>
          </a:prstGeom>
          <a:solidFill>
            <a:srgbClr val="E8B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" y="2514600"/>
            <a:ext cx="59436" cy="59436"/>
          </a:xfrm>
          <a:prstGeom prst="ellipse">
            <a:avLst/>
          </a:prstGeom>
          <a:solidFill>
            <a:srgbClr val="63C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7320" y="2478024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A6BDCF"/>
                </a:solidFill>
                <a:latin typeface="Aptos"/>
              </a:defRPr>
            </a:pPr>
            <a:r>
              <a:t>SMARTCARGO   /   FILA</a:t>
            </a:r>
          </a:p>
        </p:txBody>
      </p:sp>
      <p:pic>
        <p:nvPicPr>
          <p:cNvPr id="27" name="Picture 26" descr="fila • Fila inteligente de priorizaçã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88336"/>
            <a:ext cx="7955279" cy="497204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89720" y="2432304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43CEEF"/>
                </a:solidFill>
                <a:latin typeface="Aptos"/>
              </a:defRPr>
            </a:pPr>
            <a:r>
              <a:t>POR QUE ESTA TELA EXISTE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2852928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FFFFFF"/>
                </a:solidFill>
                <a:latin typeface="Aptos"/>
              </a:defRPr>
            </a:pPr>
            <a:r>
              <a:t>Ordenar a atenção segundo a margem de tempo.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89720" y="4270248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12" y="446227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30384" y="4434840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Margem = prazo − estimativa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9720" y="5221224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54312" y="541324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5385816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Negativa: crítica; 0 a 30: alta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9720" y="6172200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54312" y="636422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0384" y="6336792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Acima de 30: normal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808975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DADOS SIMULADOS   /   PRIORIDADE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14 / 32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156448"/>
            <a:ext cx="5960745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3533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FFFFFF"/>
                </a:solidFill>
                <a:latin typeface="Aptos"/>
              </a:defRPr>
            </a:pPr>
            <a:r>
              <a:t>Análise da carga crítica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ACESSO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16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GESTÃO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2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071E35"/>
                </a:solidFill>
                <a:latin typeface="Aptos"/>
              </a:defRPr>
            </a:pPr>
            <a:r>
              <a:t>PRIORIDADE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CAPACIDADE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74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EXECUÇÃO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97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6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RESULTADOS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542032"/>
            <a:ext cx="8065007" cy="5246369"/>
          </a:xfrm>
          <a:prstGeom prst="roundRect">
            <a:avLst>
              <a:gd name="adj" fmla="val 10000"/>
            </a:avLst>
          </a:prstGeom>
          <a:solidFill>
            <a:srgbClr val="02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2423160"/>
            <a:ext cx="7955279" cy="265176"/>
          </a:xfrm>
          <a:prstGeom prst="roundRect">
            <a:avLst>
              <a:gd name="adj" fmla="val 10000"/>
            </a:avLst>
          </a:prstGeom>
          <a:solidFill>
            <a:srgbClr val="254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94944" y="2514600"/>
            <a:ext cx="59436" cy="59436"/>
          </a:xfrm>
          <a:prstGeom prst="ellipse">
            <a:avLst/>
          </a:prstGeom>
          <a:solidFill>
            <a:srgbClr val="EF6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" y="2514600"/>
            <a:ext cx="59436" cy="59436"/>
          </a:xfrm>
          <a:prstGeom prst="ellipse">
            <a:avLst/>
          </a:prstGeom>
          <a:solidFill>
            <a:srgbClr val="E8B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" y="2514600"/>
            <a:ext cx="59436" cy="59436"/>
          </a:xfrm>
          <a:prstGeom prst="ellipse">
            <a:avLst/>
          </a:prstGeom>
          <a:solidFill>
            <a:srgbClr val="63C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7320" y="2478024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A6BDCF"/>
                </a:solidFill>
                <a:latin typeface="Aptos"/>
              </a:defRPr>
            </a:pPr>
            <a:r>
              <a:t>SMARTCARGO   /   ANALISE</a:t>
            </a:r>
          </a:p>
        </p:txBody>
      </p:sp>
      <p:pic>
        <p:nvPicPr>
          <p:cNvPr id="27" name="Picture 26" descr="analise • Análise • SC-10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88336"/>
            <a:ext cx="7955279" cy="497204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89720" y="2432304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43CEEF"/>
                </a:solidFill>
                <a:latin typeface="Aptos"/>
              </a:defRPr>
            </a:pPr>
            <a:r>
              <a:t>POR QUE ESTA TELA EXISTE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2852928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FFFFFF"/>
                </a:solidFill>
                <a:latin typeface="Aptos"/>
              </a:defRPr>
            </a:pPr>
            <a:r>
              <a:t>Explicar o risco antes de agir.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89720" y="4270248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12" y="446227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30384" y="4434840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SC-1042: prazo de 20 min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9720" y="5221224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54312" y="541324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5385816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Estimativa de 35 min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9720" y="6172200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54312" y="636422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0384" y="6336792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Margem de −15 min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808975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DADOS SIMULADOS   /   PRIORIDADE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15 / 32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156448"/>
            <a:ext cx="6386512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3533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FFFFFF"/>
                </a:solidFill>
                <a:latin typeface="Aptos"/>
              </a:defRPr>
            </a:pPr>
            <a:r>
              <a:t>Análise da prioridade alta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ACESSO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16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GESTÃO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2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071E35"/>
                </a:solidFill>
                <a:latin typeface="Aptos"/>
              </a:defRPr>
            </a:pPr>
            <a:r>
              <a:t>PRIORIDADE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CAPACIDADE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74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EXECUÇÃO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97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6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RESULTADOS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542032"/>
            <a:ext cx="8065007" cy="5246369"/>
          </a:xfrm>
          <a:prstGeom prst="roundRect">
            <a:avLst>
              <a:gd name="adj" fmla="val 10000"/>
            </a:avLst>
          </a:prstGeom>
          <a:solidFill>
            <a:srgbClr val="02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2423160"/>
            <a:ext cx="7955279" cy="265176"/>
          </a:xfrm>
          <a:prstGeom prst="roundRect">
            <a:avLst>
              <a:gd name="adj" fmla="val 10000"/>
            </a:avLst>
          </a:prstGeom>
          <a:solidFill>
            <a:srgbClr val="254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94944" y="2514600"/>
            <a:ext cx="59436" cy="59436"/>
          </a:xfrm>
          <a:prstGeom prst="ellipse">
            <a:avLst/>
          </a:prstGeom>
          <a:solidFill>
            <a:srgbClr val="EF6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" y="2514600"/>
            <a:ext cx="59436" cy="59436"/>
          </a:xfrm>
          <a:prstGeom prst="ellipse">
            <a:avLst/>
          </a:prstGeom>
          <a:solidFill>
            <a:srgbClr val="E8B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" y="2514600"/>
            <a:ext cx="59436" cy="59436"/>
          </a:xfrm>
          <a:prstGeom prst="ellipse">
            <a:avLst/>
          </a:prstGeom>
          <a:solidFill>
            <a:srgbClr val="63C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7320" y="2478024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A6BDCF"/>
                </a:solidFill>
                <a:latin typeface="Aptos"/>
              </a:defRPr>
            </a:pPr>
            <a:r>
              <a:t>SMARTCARGO   /   ANALISE-ALTA</a:t>
            </a:r>
          </a:p>
        </p:txBody>
      </p:sp>
      <p:pic>
        <p:nvPicPr>
          <p:cNvPr id="27" name="Picture 26" descr="analise-alta • Análise • SC-10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88336"/>
            <a:ext cx="7955279" cy="497204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89720" y="2432304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43CEEF"/>
                </a:solidFill>
                <a:latin typeface="Aptos"/>
              </a:defRPr>
            </a:pPr>
            <a:r>
              <a:t>POR QUE ESTA TELA EXISTE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2852928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FFFFFF"/>
                </a:solidFill>
                <a:latin typeface="Aptos"/>
              </a:defRPr>
            </a:pPr>
            <a:r>
              <a:t>Mostrar uma carga com pouca folga.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89720" y="4270248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12" y="446227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30384" y="4434840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SC-1043: MAO / AD 4382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9720" y="5221224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54312" y="541324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5385816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50 − 30 = 20 minutos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9720" y="6172200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54312" y="636422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0384" y="6336792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Acompanhar o processamento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808975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DADOS SIMULADOS   /   PRIORIDADE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16 / 32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156448"/>
            <a:ext cx="6812280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3533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FFFFFF"/>
                </a:solidFill>
                <a:latin typeface="Aptos"/>
              </a:defRPr>
            </a:pPr>
            <a:r>
              <a:t>Análise da prioridade normal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ACESSO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16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GESTÃO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2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071E35"/>
                </a:solidFill>
                <a:latin typeface="Aptos"/>
              </a:defRPr>
            </a:pPr>
            <a:r>
              <a:t>PRIORIDADE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CAPACIDADE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74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EXECUÇÃO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97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6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RESULTADOS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542032"/>
            <a:ext cx="8065007" cy="5246369"/>
          </a:xfrm>
          <a:prstGeom prst="roundRect">
            <a:avLst>
              <a:gd name="adj" fmla="val 10000"/>
            </a:avLst>
          </a:prstGeom>
          <a:solidFill>
            <a:srgbClr val="02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2423160"/>
            <a:ext cx="7955279" cy="265176"/>
          </a:xfrm>
          <a:prstGeom prst="roundRect">
            <a:avLst>
              <a:gd name="adj" fmla="val 10000"/>
            </a:avLst>
          </a:prstGeom>
          <a:solidFill>
            <a:srgbClr val="254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94944" y="2514600"/>
            <a:ext cx="59436" cy="59436"/>
          </a:xfrm>
          <a:prstGeom prst="ellipse">
            <a:avLst/>
          </a:prstGeom>
          <a:solidFill>
            <a:srgbClr val="EF6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" y="2514600"/>
            <a:ext cx="59436" cy="59436"/>
          </a:xfrm>
          <a:prstGeom prst="ellipse">
            <a:avLst/>
          </a:prstGeom>
          <a:solidFill>
            <a:srgbClr val="E8B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" y="2514600"/>
            <a:ext cx="59436" cy="59436"/>
          </a:xfrm>
          <a:prstGeom prst="ellipse">
            <a:avLst/>
          </a:prstGeom>
          <a:solidFill>
            <a:srgbClr val="63C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7320" y="2478024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A6BDCF"/>
                </a:solidFill>
                <a:latin typeface="Aptos"/>
              </a:defRPr>
            </a:pPr>
            <a:r>
              <a:t>SMARTCARGO   /   ANALISE-NORMAL</a:t>
            </a:r>
          </a:p>
        </p:txBody>
      </p:sp>
      <p:pic>
        <p:nvPicPr>
          <p:cNvPr id="27" name="Picture 26" descr="analise-normal • Análise • SC-10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88336"/>
            <a:ext cx="7955279" cy="497204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89720" y="2432304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43CEEF"/>
                </a:solidFill>
                <a:latin typeface="Aptos"/>
              </a:defRPr>
            </a:pPr>
            <a:r>
              <a:t>POR QUE ESTA TELA EXISTE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2852928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FFFFFF"/>
                </a:solidFill>
                <a:latin typeface="Aptos"/>
              </a:defRPr>
            </a:pPr>
            <a:r>
              <a:t>Demonstrar uma situação com margem maior.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89720" y="4270248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12" y="446227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30384" y="4434840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SC-1044: SSA / AD 4028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9720" y="5221224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54312" y="541324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5385816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95 − 40 = 55 minutos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9720" y="6172200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54312" y="636422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0384" y="6336792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Manter a sequência normal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808975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DADOS SIMULADOS   /   PRIORIDADE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17 / 32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156448"/>
            <a:ext cx="7238047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3533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FFFFFF"/>
                </a:solidFill>
                <a:latin typeface="Aptos"/>
              </a:defRPr>
            </a:pPr>
            <a:r>
              <a:t>Confirmação do processamento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ACESSO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16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GESTÃO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2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071E35"/>
                </a:solidFill>
                <a:latin typeface="Aptos"/>
              </a:defRPr>
            </a:pPr>
            <a:r>
              <a:t>PRIORIDADE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CAPACIDADE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74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EXECUÇÃO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97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6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RESULTADOS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542032"/>
            <a:ext cx="8065007" cy="5246369"/>
          </a:xfrm>
          <a:prstGeom prst="roundRect">
            <a:avLst>
              <a:gd name="adj" fmla="val 10000"/>
            </a:avLst>
          </a:prstGeom>
          <a:solidFill>
            <a:srgbClr val="02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2423160"/>
            <a:ext cx="7955279" cy="265176"/>
          </a:xfrm>
          <a:prstGeom prst="roundRect">
            <a:avLst>
              <a:gd name="adj" fmla="val 10000"/>
            </a:avLst>
          </a:prstGeom>
          <a:solidFill>
            <a:srgbClr val="254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94944" y="2514600"/>
            <a:ext cx="59436" cy="59436"/>
          </a:xfrm>
          <a:prstGeom prst="ellipse">
            <a:avLst/>
          </a:prstGeom>
          <a:solidFill>
            <a:srgbClr val="EF6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" y="2514600"/>
            <a:ext cx="59436" cy="59436"/>
          </a:xfrm>
          <a:prstGeom prst="ellipse">
            <a:avLst/>
          </a:prstGeom>
          <a:solidFill>
            <a:srgbClr val="E8B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" y="2514600"/>
            <a:ext cx="59436" cy="59436"/>
          </a:xfrm>
          <a:prstGeom prst="ellipse">
            <a:avLst/>
          </a:prstGeom>
          <a:solidFill>
            <a:srgbClr val="63C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7320" y="2478024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A6BDCF"/>
                </a:solidFill>
                <a:latin typeface="Aptos"/>
              </a:defRPr>
            </a:pPr>
            <a:r>
              <a:t>SMARTCARGO   /   CONFIRMAR</a:t>
            </a:r>
          </a:p>
        </p:txBody>
      </p:sp>
      <p:pic>
        <p:nvPicPr>
          <p:cNvPr id="27" name="Picture 26" descr="confirmar • Confirmar processam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88336"/>
            <a:ext cx="7955279" cy="497204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89720" y="2432304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43CEEF"/>
                </a:solidFill>
                <a:latin typeface="Aptos"/>
              </a:defRPr>
            </a:pPr>
            <a:r>
              <a:t>POR QUE ESTA TELA EXISTE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2852928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FFFFFF"/>
                </a:solidFill>
                <a:latin typeface="Aptos"/>
              </a:defRPr>
            </a:pPr>
            <a:r>
              <a:t>Garantir uma decisão consciente do operador.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89720" y="4270248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12" y="446227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30384" y="4434840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Reforço do risco de atraso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9720" y="5221224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54312" y="541324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5385816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Recebida → Em separação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9720" y="6172200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54312" y="636422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0384" y="6336792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Confirmar ou cancelar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808975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DADOS SIMULADOS   /   PRIORIDADE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18 / 32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156448"/>
            <a:ext cx="7663815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3533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FFFFFF"/>
                </a:solidFill>
                <a:latin typeface="Aptos"/>
              </a:defRPr>
            </a:pPr>
            <a:r>
              <a:t>Processamento iniciado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ACESSO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16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GESTÃO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2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071E35"/>
                </a:solidFill>
                <a:latin typeface="Aptos"/>
              </a:defRPr>
            </a:pPr>
            <a:r>
              <a:t>PRIORIDADE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CAPACIDADE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74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EXECUÇÃO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97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6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RESULTADOS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542032"/>
            <a:ext cx="8065007" cy="5246369"/>
          </a:xfrm>
          <a:prstGeom prst="roundRect">
            <a:avLst>
              <a:gd name="adj" fmla="val 10000"/>
            </a:avLst>
          </a:prstGeom>
          <a:solidFill>
            <a:srgbClr val="02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2423160"/>
            <a:ext cx="7955279" cy="265176"/>
          </a:xfrm>
          <a:prstGeom prst="roundRect">
            <a:avLst>
              <a:gd name="adj" fmla="val 10000"/>
            </a:avLst>
          </a:prstGeom>
          <a:solidFill>
            <a:srgbClr val="254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94944" y="2514600"/>
            <a:ext cx="59436" cy="59436"/>
          </a:xfrm>
          <a:prstGeom prst="ellipse">
            <a:avLst/>
          </a:prstGeom>
          <a:solidFill>
            <a:srgbClr val="EF6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" y="2514600"/>
            <a:ext cx="59436" cy="59436"/>
          </a:xfrm>
          <a:prstGeom prst="ellipse">
            <a:avLst/>
          </a:prstGeom>
          <a:solidFill>
            <a:srgbClr val="E8B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" y="2514600"/>
            <a:ext cx="59436" cy="59436"/>
          </a:xfrm>
          <a:prstGeom prst="ellipse">
            <a:avLst/>
          </a:prstGeom>
          <a:solidFill>
            <a:srgbClr val="63C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7320" y="2478024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A6BDCF"/>
                </a:solidFill>
                <a:latin typeface="Aptos"/>
              </a:defRPr>
            </a:pPr>
            <a:r>
              <a:t>SMARTCARGO   /   INICIADO</a:t>
            </a:r>
          </a:p>
        </p:txBody>
      </p:sp>
      <p:pic>
        <p:nvPicPr>
          <p:cNvPr id="27" name="Picture 26" descr="iniciado • Processamento inici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88336"/>
            <a:ext cx="7955279" cy="497204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89720" y="2432304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43CEEF"/>
                </a:solidFill>
                <a:latin typeface="Aptos"/>
              </a:defRPr>
            </a:pPr>
            <a:r>
              <a:t>POR QUE ESTA TELA EXISTE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2852928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FFFFFF"/>
                </a:solidFill>
                <a:latin typeface="Aptos"/>
              </a:defRPr>
            </a:pPr>
            <a:r>
              <a:t>Confirmar a ação e orientar o próximo passo.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89720" y="4270248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12" y="446227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30384" y="4434840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Registro às 10h05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9720" y="5221224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54312" y="541324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5385816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Status: Em separação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9720" y="6172200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54312" y="636422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0384" y="6336792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Consultar capacidade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808975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DADOS SIMULADOS   /   CAPACIDADE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19 / 32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156448"/>
            <a:ext cx="8089582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3533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FFFFFF"/>
                </a:solidFill>
                <a:latin typeface="Aptos"/>
              </a:defRPr>
            </a:pPr>
            <a:r>
              <a:t>Capacidade operacional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ACESSO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16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GESTÃO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2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PRIORIDADE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071E35"/>
                </a:solidFill>
                <a:latin typeface="Aptos"/>
              </a:defRPr>
            </a:pPr>
            <a:r>
              <a:t>CAPACIDADE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74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EXECUÇÃO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97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6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RESULTADOS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542032"/>
            <a:ext cx="8065007" cy="5246369"/>
          </a:xfrm>
          <a:prstGeom prst="roundRect">
            <a:avLst>
              <a:gd name="adj" fmla="val 10000"/>
            </a:avLst>
          </a:prstGeom>
          <a:solidFill>
            <a:srgbClr val="02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2423160"/>
            <a:ext cx="7955279" cy="265176"/>
          </a:xfrm>
          <a:prstGeom prst="roundRect">
            <a:avLst>
              <a:gd name="adj" fmla="val 10000"/>
            </a:avLst>
          </a:prstGeom>
          <a:solidFill>
            <a:srgbClr val="254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94944" y="2514600"/>
            <a:ext cx="59436" cy="59436"/>
          </a:xfrm>
          <a:prstGeom prst="ellipse">
            <a:avLst/>
          </a:prstGeom>
          <a:solidFill>
            <a:srgbClr val="EF6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" y="2514600"/>
            <a:ext cx="59436" cy="59436"/>
          </a:xfrm>
          <a:prstGeom prst="ellipse">
            <a:avLst/>
          </a:prstGeom>
          <a:solidFill>
            <a:srgbClr val="E8B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" y="2514600"/>
            <a:ext cx="59436" cy="59436"/>
          </a:xfrm>
          <a:prstGeom prst="ellipse">
            <a:avLst/>
          </a:prstGeom>
          <a:solidFill>
            <a:srgbClr val="63C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7320" y="2478024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A6BDCF"/>
                </a:solidFill>
                <a:latin typeface="Aptos"/>
              </a:defRPr>
            </a:pPr>
            <a:r>
              <a:t>SMARTCARGO   /   CAPACIDADE</a:t>
            </a:r>
          </a:p>
        </p:txBody>
      </p:sp>
      <p:pic>
        <p:nvPicPr>
          <p:cNvPr id="27" name="Picture 26" descr="capacidade • Capacidade oper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88336"/>
            <a:ext cx="7955279" cy="497204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89720" y="2432304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43CEEF"/>
                </a:solidFill>
                <a:latin typeface="Aptos"/>
              </a:defRPr>
            </a:pPr>
            <a:r>
              <a:t>POR QUE ESTA TELA EXISTE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2852928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FFFFFF"/>
                </a:solidFill>
                <a:latin typeface="Aptos"/>
              </a:defRPr>
            </a:pPr>
            <a:r>
              <a:t>Verificar espaço antes de alocar uma carga.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89720" y="4270248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12" y="446227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30384" y="4434840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Quatro áreas monitoradas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9720" y="5221224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54312" y="541324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5385816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Separação: 28/40 ocupadas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9720" y="6172200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54312" y="636422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0384" y="6336792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SC-1042 exige 4 posições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808975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DADOS SIMULADOS   /   CAPACIDADE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20 / 32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156448"/>
            <a:ext cx="8515350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3533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FFFFFF"/>
                </a:solidFill>
                <a:latin typeface="Aptos"/>
              </a:defRPr>
            </a:pPr>
            <a:r>
              <a:t>Simulação de alocação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ACESSO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16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GESTÃO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2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PRIORIDADE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071E35"/>
                </a:solidFill>
                <a:latin typeface="Aptos"/>
              </a:defRPr>
            </a:pPr>
            <a:r>
              <a:t>CAPACIDADE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74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EXECUÇÃO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97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6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RESULTADOS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542032"/>
            <a:ext cx="8065007" cy="5246369"/>
          </a:xfrm>
          <a:prstGeom prst="roundRect">
            <a:avLst>
              <a:gd name="adj" fmla="val 10000"/>
            </a:avLst>
          </a:prstGeom>
          <a:solidFill>
            <a:srgbClr val="02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2423160"/>
            <a:ext cx="7955279" cy="265176"/>
          </a:xfrm>
          <a:prstGeom prst="roundRect">
            <a:avLst>
              <a:gd name="adj" fmla="val 10000"/>
            </a:avLst>
          </a:prstGeom>
          <a:solidFill>
            <a:srgbClr val="254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94944" y="2514600"/>
            <a:ext cx="59436" cy="59436"/>
          </a:xfrm>
          <a:prstGeom prst="ellipse">
            <a:avLst/>
          </a:prstGeom>
          <a:solidFill>
            <a:srgbClr val="EF6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" y="2514600"/>
            <a:ext cx="59436" cy="59436"/>
          </a:xfrm>
          <a:prstGeom prst="ellipse">
            <a:avLst/>
          </a:prstGeom>
          <a:solidFill>
            <a:srgbClr val="E8B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" y="2514600"/>
            <a:ext cx="59436" cy="59436"/>
          </a:xfrm>
          <a:prstGeom prst="ellipse">
            <a:avLst/>
          </a:prstGeom>
          <a:solidFill>
            <a:srgbClr val="63C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7320" y="2478024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A6BDCF"/>
                </a:solidFill>
                <a:latin typeface="Aptos"/>
              </a:defRPr>
            </a:pPr>
            <a:r>
              <a:t>SMARTCARGO   /   SIMULACAO</a:t>
            </a:r>
          </a:p>
        </p:txBody>
      </p:sp>
      <p:pic>
        <p:nvPicPr>
          <p:cNvPr id="27" name="Picture 26" descr="simulacao • Simulação de alocaçã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88336"/>
            <a:ext cx="7955279" cy="497204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89720" y="2432304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43CEEF"/>
                </a:solidFill>
                <a:latin typeface="Aptos"/>
              </a:defRPr>
            </a:pPr>
            <a:r>
              <a:t>POR QUE ESTA TELA EXISTE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2852928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FFFFFF"/>
                </a:solidFill>
                <a:latin typeface="Aptos"/>
              </a:defRPr>
            </a:pPr>
            <a:r>
              <a:t>Antecipar o impacto sem reservar espaço.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89720" y="4270248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12" y="446227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30384" y="4434840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Separação: 28 → 32 posições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9720" y="5221224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54312" y="541324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5385816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Limite de 40; saldo de 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9720" y="6172200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54312" y="636422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0384" y="6336792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Confirmar para efetivar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808975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DADOS SIMULADOS   /   CAPACIDADE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21 / 32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156448"/>
            <a:ext cx="8941117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3533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FFFFFF"/>
                </a:solidFill>
                <a:latin typeface="Aptos"/>
              </a:defRPr>
            </a:pPr>
            <a:r>
              <a:t>Exceção / Capacidade excedida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ACESSO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16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GESTÃO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2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PRIORIDADE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071E35"/>
                </a:solidFill>
                <a:latin typeface="Aptos"/>
              </a:defRPr>
            </a:pPr>
            <a:r>
              <a:t>CAPACIDADE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74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EXECUÇÃO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97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6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RESULTADOS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542032"/>
            <a:ext cx="8065007" cy="5246369"/>
          </a:xfrm>
          <a:prstGeom prst="roundRect">
            <a:avLst>
              <a:gd name="adj" fmla="val 10000"/>
            </a:avLst>
          </a:prstGeom>
          <a:solidFill>
            <a:srgbClr val="02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2423160"/>
            <a:ext cx="7955279" cy="265176"/>
          </a:xfrm>
          <a:prstGeom prst="roundRect">
            <a:avLst>
              <a:gd name="adj" fmla="val 10000"/>
            </a:avLst>
          </a:prstGeom>
          <a:solidFill>
            <a:srgbClr val="254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94944" y="2514600"/>
            <a:ext cx="59436" cy="59436"/>
          </a:xfrm>
          <a:prstGeom prst="ellipse">
            <a:avLst/>
          </a:prstGeom>
          <a:solidFill>
            <a:srgbClr val="EF6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" y="2514600"/>
            <a:ext cx="59436" cy="59436"/>
          </a:xfrm>
          <a:prstGeom prst="ellipse">
            <a:avLst/>
          </a:prstGeom>
          <a:solidFill>
            <a:srgbClr val="E8B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" y="2514600"/>
            <a:ext cx="59436" cy="59436"/>
          </a:xfrm>
          <a:prstGeom prst="ellipse">
            <a:avLst/>
          </a:prstGeom>
          <a:solidFill>
            <a:srgbClr val="63C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7320" y="2478024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A6BDCF"/>
                </a:solidFill>
                <a:latin typeface="Aptos"/>
              </a:defRPr>
            </a:pPr>
            <a:r>
              <a:t>SMARTCARGO   /   EXCEDIDA</a:t>
            </a:r>
          </a:p>
        </p:txBody>
      </p:sp>
      <p:pic>
        <p:nvPicPr>
          <p:cNvPr id="27" name="Picture 26" descr="excedida • Capacidade exced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88336"/>
            <a:ext cx="7955279" cy="497204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89720" y="2432304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43CEEF"/>
                </a:solidFill>
                <a:latin typeface="Aptos"/>
              </a:defRPr>
            </a:pPr>
            <a:r>
              <a:t>POR QUE ESTA TELA EXISTE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2852928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FFFFFF"/>
                </a:solidFill>
                <a:latin typeface="Aptos"/>
              </a:defRPr>
            </a:pPr>
            <a:r>
              <a:t>Impedir uma alocação além do limite.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89720" y="4270248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12" y="446227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30384" y="4434840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Consolidação: 19/20 ocupadas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9720" y="5221224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54312" y="541324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5385816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1 livre para uma demanda de 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9720" y="6172200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54312" y="636422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0384" y="6336792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Operação bloqueada; faltam 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808975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DADOS SIMULADOS   /   CAPACIDADE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22 / 32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156448"/>
            <a:ext cx="9366885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3533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FFFFFF"/>
                </a:solidFill>
                <a:latin typeface="Aptos"/>
              </a:defRPr>
            </a:pPr>
            <a:r>
              <a:t>Alocação concluída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ACESSO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16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GESTÃO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2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PRIORIDADE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071E35"/>
                </a:solidFill>
                <a:latin typeface="Aptos"/>
              </a:defRPr>
            </a:pPr>
            <a:r>
              <a:t>CAPACIDADE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74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EXECUÇÃO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97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6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RESULTADOS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542032"/>
            <a:ext cx="8065007" cy="5246369"/>
          </a:xfrm>
          <a:prstGeom prst="roundRect">
            <a:avLst>
              <a:gd name="adj" fmla="val 10000"/>
            </a:avLst>
          </a:prstGeom>
          <a:solidFill>
            <a:srgbClr val="02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2423160"/>
            <a:ext cx="7955279" cy="265176"/>
          </a:xfrm>
          <a:prstGeom prst="roundRect">
            <a:avLst>
              <a:gd name="adj" fmla="val 10000"/>
            </a:avLst>
          </a:prstGeom>
          <a:solidFill>
            <a:srgbClr val="254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94944" y="2514600"/>
            <a:ext cx="59436" cy="59436"/>
          </a:xfrm>
          <a:prstGeom prst="ellipse">
            <a:avLst/>
          </a:prstGeom>
          <a:solidFill>
            <a:srgbClr val="EF6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" y="2514600"/>
            <a:ext cx="59436" cy="59436"/>
          </a:xfrm>
          <a:prstGeom prst="ellipse">
            <a:avLst/>
          </a:prstGeom>
          <a:solidFill>
            <a:srgbClr val="E8B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" y="2514600"/>
            <a:ext cx="59436" cy="59436"/>
          </a:xfrm>
          <a:prstGeom prst="ellipse">
            <a:avLst/>
          </a:prstGeom>
          <a:solidFill>
            <a:srgbClr val="63C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7320" y="2478024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A6BDCF"/>
                </a:solidFill>
                <a:latin typeface="Aptos"/>
              </a:defRPr>
            </a:pPr>
            <a:r>
              <a:t>SMARTCARGO   /   ALOCADA</a:t>
            </a:r>
          </a:p>
        </p:txBody>
      </p:sp>
      <p:pic>
        <p:nvPicPr>
          <p:cNvPr id="27" name="Picture 26" descr="alocada • Capacidade oper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88336"/>
            <a:ext cx="7955279" cy="497204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89720" y="2432304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43CEEF"/>
                </a:solidFill>
                <a:latin typeface="Aptos"/>
              </a:defRPr>
            </a:pPr>
            <a:r>
              <a:t>POR QUE ESTA TELA EXISTE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2852928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FFFFFF"/>
                </a:solidFill>
                <a:latin typeface="Aptos"/>
              </a:defRPr>
            </a:pPr>
            <a:r>
              <a:t>Confirmar a ocupação e manter a jornada.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89720" y="4270248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12" y="446227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30384" y="4434840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SC-1042 na Separação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9720" y="5221224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54312" y="541324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5385816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32/40 posições: 80%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9720" y="6172200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54312" y="636422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0384" y="6336792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Seguir para acompanhamento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808975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DADOS SIMULADOS   /   EXECUÇÃO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23 / 32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156448"/>
            <a:ext cx="9792652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3533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FFFFFF"/>
                </a:solidFill>
                <a:latin typeface="Aptos"/>
              </a:defRPr>
            </a:pPr>
            <a:r>
              <a:t>Acompanhamento / Em separação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ACESSO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16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GESTÃO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2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PRIORIDADE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CAPACIDADE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74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071E35"/>
                </a:solidFill>
                <a:latin typeface="Aptos"/>
              </a:defRPr>
            </a:pPr>
            <a:r>
              <a:t>EXECUÇÃO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97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6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RESULTADOS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542032"/>
            <a:ext cx="8065007" cy="5246369"/>
          </a:xfrm>
          <a:prstGeom prst="roundRect">
            <a:avLst>
              <a:gd name="adj" fmla="val 10000"/>
            </a:avLst>
          </a:prstGeom>
          <a:solidFill>
            <a:srgbClr val="02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2423160"/>
            <a:ext cx="7955279" cy="265176"/>
          </a:xfrm>
          <a:prstGeom prst="roundRect">
            <a:avLst>
              <a:gd name="adj" fmla="val 10000"/>
            </a:avLst>
          </a:prstGeom>
          <a:solidFill>
            <a:srgbClr val="254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94944" y="2514600"/>
            <a:ext cx="59436" cy="59436"/>
          </a:xfrm>
          <a:prstGeom prst="ellipse">
            <a:avLst/>
          </a:prstGeom>
          <a:solidFill>
            <a:srgbClr val="EF6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" y="2514600"/>
            <a:ext cx="59436" cy="59436"/>
          </a:xfrm>
          <a:prstGeom prst="ellipse">
            <a:avLst/>
          </a:prstGeom>
          <a:solidFill>
            <a:srgbClr val="E8B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" y="2514600"/>
            <a:ext cx="59436" cy="59436"/>
          </a:xfrm>
          <a:prstGeom prst="ellipse">
            <a:avLst/>
          </a:prstGeom>
          <a:solidFill>
            <a:srgbClr val="63C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7320" y="2478024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A6BDCF"/>
                </a:solidFill>
                <a:latin typeface="Aptos"/>
              </a:defRPr>
            </a:pPr>
            <a:r>
              <a:t>SMARTCARGO   /   ETAPA1</a:t>
            </a:r>
          </a:p>
        </p:txBody>
      </p:sp>
      <p:pic>
        <p:nvPicPr>
          <p:cNvPr id="27" name="Picture 26" descr="etapa1 • Detalhes • SC-10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88336"/>
            <a:ext cx="7955279" cy="497204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89720" y="2432304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43CEEF"/>
                </a:solidFill>
                <a:latin typeface="Aptos"/>
              </a:defRPr>
            </a:pPr>
            <a:r>
              <a:t>POR QUE ESTA TELA EXISTE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2852928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FFFFFF"/>
                </a:solidFill>
                <a:latin typeface="Aptos"/>
              </a:defRPr>
            </a:pPr>
            <a:r>
              <a:t>Mostrar o início da execução e seu registro.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89720" y="4270248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12" y="446227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30384" y="4434840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Primeira etapa concluída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9720" y="5221224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54312" y="541324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5385816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Separação em andamento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9720" y="6172200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54312" y="636422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0384" y="6336792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Histórico de início e alocação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808975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DADOS SIMULADOS   /   EXECUÇÃO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24 / 32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156448"/>
            <a:ext cx="10218420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3533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FFFFFF"/>
                </a:solidFill>
                <a:latin typeface="Aptos"/>
              </a:defRPr>
            </a:pPr>
            <a:r>
              <a:t>Exceção / Transição não permitida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ACESSO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16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GESTÃO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2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PRIORIDADE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CAPACIDADE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74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071E35"/>
                </a:solidFill>
                <a:latin typeface="Aptos"/>
              </a:defRPr>
            </a:pPr>
            <a:r>
              <a:t>EXECUÇÃO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97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6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RESULTADOS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542032"/>
            <a:ext cx="8065007" cy="5246369"/>
          </a:xfrm>
          <a:prstGeom prst="roundRect">
            <a:avLst>
              <a:gd name="adj" fmla="val 10000"/>
            </a:avLst>
          </a:prstGeom>
          <a:solidFill>
            <a:srgbClr val="02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2423160"/>
            <a:ext cx="7955279" cy="265176"/>
          </a:xfrm>
          <a:prstGeom prst="roundRect">
            <a:avLst>
              <a:gd name="adj" fmla="val 10000"/>
            </a:avLst>
          </a:prstGeom>
          <a:solidFill>
            <a:srgbClr val="254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94944" y="2514600"/>
            <a:ext cx="59436" cy="59436"/>
          </a:xfrm>
          <a:prstGeom prst="ellipse">
            <a:avLst/>
          </a:prstGeom>
          <a:solidFill>
            <a:srgbClr val="EF6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" y="2514600"/>
            <a:ext cx="59436" cy="59436"/>
          </a:xfrm>
          <a:prstGeom prst="ellipse">
            <a:avLst/>
          </a:prstGeom>
          <a:solidFill>
            <a:srgbClr val="E8B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" y="2514600"/>
            <a:ext cx="59436" cy="59436"/>
          </a:xfrm>
          <a:prstGeom prst="ellipse">
            <a:avLst/>
          </a:prstGeom>
          <a:solidFill>
            <a:srgbClr val="63C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7320" y="2478024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A6BDCF"/>
                </a:solidFill>
                <a:latin typeface="Aptos"/>
              </a:defRPr>
            </a:pPr>
            <a:r>
              <a:t>SMARTCARGO   /   SEQUENCIA</a:t>
            </a:r>
          </a:p>
        </p:txBody>
      </p:sp>
      <p:pic>
        <p:nvPicPr>
          <p:cNvPr id="27" name="Picture 26" descr="sequencia • Transição não permit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88336"/>
            <a:ext cx="7955279" cy="497204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89720" y="2432304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43CEEF"/>
                </a:solidFill>
                <a:latin typeface="Aptos"/>
              </a:defRPr>
            </a:pPr>
            <a:r>
              <a:t>POR QUE ESTA TELA EXISTE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2852928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FFFFFF"/>
                </a:solidFill>
                <a:latin typeface="Aptos"/>
              </a:defRPr>
            </a:pPr>
            <a:r>
              <a:t>Preservar a ordem do processamento.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89720" y="4270248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12" y="446227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30384" y="4434840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Tentativa de pular uma etapa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9720" y="5221224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54312" y="541324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5385816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Atualização bloqueada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9720" y="6172200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54312" y="636422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0384" y="6336792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Concluir a sequência prevista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808975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DADOS SIMULADOS   /   EXECUÇÃO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25 / 32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156448"/>
            <a:ext cx="10644187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3533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FFFFFF"/>
                </a:solidFill>
                <a:latin typeface="Aptos"/>
              </a:defRPr>
            </a:pPr>
            <a:r>
              <a:t>Acompanhamento / Consolidada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ACESSO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16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GESTÃO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2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PRIORIDADE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CAPACIDADE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74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071E35"/>
                </a:solidFill>
                <a:latin typeface="Aptos"/>
              </a:defRPr>
            </a:pPr>
            <a:r>
              <a:t>EXECUÇÃO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97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6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RESULTADOS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542032"/>
            <a:ext cx="8065007" cy="5246369"/>
          </a:xfrm>
          <a:prstGeom prst="roundRect">
            <a:avLst>
              <a:gd name="adj" fmla="val 10000"/>
            </a:avLst>
          </a:prstGeom>
          <a:solidFill>
            <a:srgbClr val="02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2423160"/>
            <a:ext cx="7955279" cy="265176"/>
          </a:xfrm>
          <a:prstGeom prst="roundRect">
            <a:avLst>
              <a:gd name="adj" fmla="val 10000"/>
            </a:avLst>
          </a:prstGeom>
          <a:solidFill>
            <a:srgbClr val="254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94944" y="2514600"/>
            <a:ext cx="59436" cy="59436"/>
          </a:xfrm>
          <a:prstGeom prst="ellipse">
            <a:avLst/>
          </a:prstGeom>
          <a:solidFill>
            <a:srgbClr val="EF6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" y="2514600"/>
            <a:ext cx="59436" cy="59436"/>
          </a:xfrm>
          <a:prstGeom prst="ellipse">
            <a:avLst/>
          </a:prstGeom>
          <a:solidFill>
            <a:srgbClr val="E8B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" y="2514600"/>
            <a:ext cx="59436" cy="59436"/>
          </a:xfrm>
          <a:prstGeom prst="ellipse">
            <a:avLst/>
          </a:prstGeom>
          <a:solidFill>
            <a:srgbClr val="63C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7320" y="2478024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A6BDCF"/>
                </a:solidFill>
                <a:latin typeface="Aptos"/>
              </a:defRPr>
            </a:pPr>
            <a:r>
              <a:t>SMARTCARGO   /   ETAPA2</a:t>
            </a:r>
          </a:p>
        </p:txBody>
      </p:sp>
      <p:pic>
        <p:nvPicPr>
          <p:cNvPr id="27" name="Picture 26" descr="etapa2 • Detalhes • SC-10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88336"/>
            <a:ext cx="7955279" cy="497204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89720" y="2432304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43CEEF"/>
                </a:solidFill>
                <a:latin typeface="Aptos"/>
              </a:defRPr>
            </a:pPr>
            <a:r>
              <a:t>POR QUE ESTA TELA EXISTE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2852928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FFFFFF"/>
                </a:solidFill>
                <a:latin typeface="Aptos"/>
              </a:defRPr>
            </a:pPr>
            <a:r>
              <a:t>Registrar o avanço intermediário.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89720" y="4270248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12" y="446227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30384" y="4434840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Consolidação às 10h17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9720" y="5221224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54312" y="541324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5385816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Histórico atualizado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9720" y="6172200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54312" y="636422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0384" y="6336792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Próxima etapa: pronta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808975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DADOS SIMULADOS   /   EXECUÇÃO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26 / 32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156448"/>
            <a:ext cx="11069955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3533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FFFFFF"/>
                </a:solidFill>
                <a:latin typeface="Aptos"/>
              </a:defRPr>
            </a:pPr>
            <a:r>
              <a:t>Acompanhamento / Pronta para embarque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ACESSO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16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GESTÃO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2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PRIORIDADE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CAPACIDADE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74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071E35"/>
                </a:solidFill>
                <a:latin typeface="Aptos"/>
              </a:defRPr>
            </a:pPr>
            <a:r>
              <a:t>EXECUÇÃO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97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6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RESULTADOS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542032"/>
            <a:ext cx="8065007" cy="5246369"/>
          </a:xfrm>
          <a:prstGeom prst="roundRect">
            <a:avLst>
              <a:gd name="adj" fmla="val 10000"/>
            </a:avLst>
          </a:prstGeom>
          <a:solidFill>
            <a:srgbClr val="02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2423160"/>
            <a:ext cx="7955279" cy="265176"/>
          </a:xfrm>
          <a:prstGeom prst="roundRect">
            <a:avLst>
              <a:gd name="adj" fmla="val 10000"/>
            </a:avLst>
          </a:prstGeom>
          <a:solidFill>
            <a:srgbClr val="254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94944" y="2514600"/>
            <a:ext cx="59436" cy="59436"/>
          </a:xfrm>
          <a:prstGeom prst="ellipse">
            <a:avLst/>
          </a:prstGeom>
          <a:solidFill>
            <a:srgbClr val="EF6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" y="2514600"/>
            <a:ext cx="59436" cy="59436"/>
          </a:xfrm>
          <a:prstGeom prst="ellipse">
            <a:avLst/>
          </a:prstGeom>
          <a:solidFill>
            <a:srgbClr val="E8B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" y="2514600"/>
            <a:ext cx="59436" cy="59436"/>
          </a:xfrm>
          <a:prstGeom prst="ellipse">
            <a:avLst/>
          </a:prstGeom>
          <a:solidFill>
            <a:srgbClr val="63C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7320" y="2478024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A6BDCF"/>
                </a:solidFill>
                <a:latin typeface="Aptos"/>
              </a:defRPr>
            </a:pPr>
            <a:r>
              <a:t>SMARTCARGO   /   ETAPA3</a:t>
            </a:r>
          </a:p>
        </p:txBody>
      </p:sp>
      <p:pic>
        <p:nvPicPr>
          <p:cNvPr id="27" name="Picture 26" descr="etapa3 • Detalhes • SC-10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88336"/>
            <a:ext cx="7955279" cy="497204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89720" y="2432304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43CEEF"/>
                </a:solidFill>
                <a:latin typeface="Aptos"/>
              </a:defRPr>
            </a:pPr>
            <a:r>
              <a:t>POR QUE ESTA TELA EXISTE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2852928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FFFFFF"/>
                </a:solidFill>
                <a:latin typeface="Aptos"/>
              </a:defRPr>
            </a:pPr>
            <a:r>
              <a:t>Concluir o escopo do processamento.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89720" y="4270248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12" y="446227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30384" y="4434840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Conclusão às 10h27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9720" y="5221224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54312" y="541324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5385816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Quatro etapas registradas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9720" y="6172200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54312" y="636422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0384" y="6336792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Consultar o resultado final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808975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DADOS SIMULADOS   /   EXECUÇÃO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27 / 32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156448"/>
            <a:ext cx="11495722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3533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FFFFFF"/>
                </a:solidFill>
                <a:latin typeface="Aptos"/>
              </a:defRPr>
            </a:pPr>
            <a:r>
              <a:t>Resultado da operação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ACESSO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16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GESTÃO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2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PRIORIDADE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CAPACIDADE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74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071E35"/>
                </a:solidFill>
                <a:latin typeface="Aptos"/>
              </a:defRPr>
            </a:pPr>
            <a:r>
              <a:t>EXECUÇÃO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97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6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RESULTADOS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542032"/>
            <a:ext cx="8065007" cy="5246369"/>
          </a:xfrm>
          <a:prstGeom prst="roundRect">
            <a:avLst>
              <a:gd name="adj" fmla="val 10000"/>
            </a:avLst>
          </a:prstGeom>
          <a:solidFill>
            <a:srgbClr val="02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2423160"/>
            <a:ext cx="7955279" cy="265176"/>
          </a:xfrm>
          <a:prstGeom prst="roundRect">
            <a:avLst>
              <a:gd name="adj" fmla="val 10000"/>
            </a:avLst>
          </a:prstGeom>
          <a:solidFill>
            <a:srgbClr val="254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94944" y="2514600"/>
            <a:ext cx="59436" cy="59436"/>
          </a:xfrm>
          <a:prstGeom prst="ellipse">
            <a:avLst/>
          </a:prstGeom>
          <a:solidFill>
            <a:srgbClr val="EF6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" y="2514600"/>
            <a:ext cx="59436" cy="59436"/>
          </a:xfrm>
          <a:prstGeom prst="ellipse">
            <a:avLst/>
          </a:prstGeom>
          <a:solidFill>
            <a:srgbClr val="E8B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" y="2514600"/>
            <a:ext cx="59436" cy="59436"/>
          </a:xfrm>
          <a:prstGeom prst="ellipse">
            <a:avLst/>
          </a:prstGeom>
          <a:solidFill>
            <a:srgbClr val="63C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7320" y="2478024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A6BDCF"/>
                </a:solidFill>
                <a:latin typeface="Aptos"/>
              </a:defRPr>
            </a:pPr>
            <a:r>
              <a:t>SMARTCARGO   /   RESULTADO</a:t>
            </a:r>
          </a:p>
        </p:txBody>
      </p:sp>
      <p:pic>
        <p:nvPicPr>
          <p:cNvPr id="27" name="Picture 26" descr="resultado • Operação finaliz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88336"/>
            <a:ext cx="7955279" cy="497204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89720" y="2432304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43CEEF"/>
                </a:solidFill>
                <a:latin typeface="Aptos"/>
              </a:defRPr>
            </a:pPr>
            <a:r>
              <a:t>POR QUE ESTA TELA EXISTE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2852928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FFFFFF"/>
                </a:solidFill>
                <a:latin typeface="Aptos"/>
              </a:defRPr>
            </a:pPr>
            <a:r>
              <a:t>Apresentar o desfecho com transparência.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89720" y="4270248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12" y="446227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30384" y="4434840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27 minutos realizados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9720" y="5221224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54312" y="541324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5385816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Prazo de 20 min: atraso de 7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9720" y="6172200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54312" y="636422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0384" y="6336792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2 ativas; nenhuma crítica ativa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808975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DADOS SIMULADOS   /   RESULTADOS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28 / 32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156448"/>
            <a:ext cx="11921490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3533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FFFFFF"/>
                </a:solidFill>
                <a:latin typeface="Aptos"/>
              </a:defRPr>
            </a:pPr>
            <a:r>
              <a:t>Relatórios operacionais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ACESSO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16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GESTÃO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2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PRIORIDADE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CAPACIDADE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74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EXECUÇÃO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97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6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071E35"/>
                </a:solidFill>
                <a:latin typeface="Aptos"/>
              </a:defRPr>
            </a:pPr>
            <a:r>
              <a:t>RESULTADOS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542032"/>
            <a:ext cx="8065007" cy="5246369"/>
          </a:xfrm>
          <a:prstGeom prst="roundRect">
            <a:avLst>
              <a:gd name="adj" fmla="val 10000"/>
            </a:avLst>
          </a:prstGeom>
          <a:solidFill>
            <a:srgbClr val="02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2423160"/>
            <a:ext cx="7955279" cy="265176"/>
          </a:xfrm>
          <a:prstGeom prst="roundRect">
            <a:avLst>
              <a:gd name="adj" fmla="val 10000"/>
            </a:avLst>
          </a:prstGeom>
          <a:solidFill>
            <a:srgbClr val="254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94944" y="2514600"/>
            <a:ext cx="59436" cy="59436"/>
          </a:xfrm>
          <a:prstGeom prst="ellipse">
            <a:avLst/>
          </a:prstGeom>
          <a:solidFill>
            <a:srgbClr val="EF6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" y="2514600"/>
            <a:ext cx="59436" cy="59436"/>
          </a:xfrm>
          <a:prstGeom prst="ellipse">
            <a:avLst/>
          </a:prstGeom>
          <a:solidFill>
            <a:srgbClr val="E8B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" y="2514600"/>
            <a:ext cx="59436" cy="59436"/>
          </a:xfrm>
          <a:prstGeom prst="ellipse">
            <a:avLst/>
          </a:prstGeom>
          <a:solidFill>
            <a:srgbClr val="63C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7320" y="2478024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A6BDCF"/>
                </a:solidFill>
                <a:latin typeface="Aptos"/>
              </a:defRPr>
            </a:pPr>
            <a:r>
              <a:t>SMARTCARGO   /   RELATORIOS</a:t>
            </a:r>
          </a:p>
        </p:txBody>
      </p:sp>
      <p:pic>
        <p:nvPicPr>
          <p:cNvPr id="27" name="Picture 26" descr="relatorios • Relatórios operacion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88336"/>
            <a:ext cx="7955279" cy="497204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89720" y="2432304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43CEEF"/>
                </a:solidFill>
                <a:latin typeface="Aptos"/>
              </a:defRPr>
            </a:pPr>
            <a:r>
              <a:t>POR QUE ESTA TELA EXISTE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2852928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FFFFFF"/>
                </a:solidFill>
                <a:latin typeface="Aptos"/>
              </a:defRPr>
            </a:pPr>
            <a:r>
              <a:t>Estabelecer a visão histórica de desempenho.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89720" y="4270248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12" y="446227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30384" y="4434840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Média simulada: 32 minutos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9720" y="5221224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54312" y="541324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5385816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92 de 100 cargas no prazo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9720" y="6172200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54312" y="636422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0384" y="6336792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Ocupação média: 82,5%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808975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DADOS SIMULADOS   /   RESULTADOS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29 / 32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156448"/>
            <a:ext cx="12347257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3533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FFFFFF"/>
                </a:solidFill>
                <a:latin typeface="Aptos"/>
              </a:defRPr>
            </a:pPr>
            <a:r>
              <a:t>Relatório do turno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ACESSO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16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GESTÃO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2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PRIORIDADE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CAPACIDADE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74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EXECUÇÃO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97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6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071E35"/>
                </a:solidFill>
                <a:latin typeface="Aptos"/>
              </a:defRPr>
            </a:pPr>
            <a:r>
              <a:t>RESULTADOS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542032"/>
            <a:ext cx="8065007" cy="5246369"/>
          </a:xfrm>
          <a:prstGeom prst="roundRect">
            <a:avLst>
              <a:gd name="adj" fmla="val 10000"/>
            </a:avLst>
          </a:prstGeom>
          <a:solidFill>
            <a:srgbClr val="02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2423160"/>
            <a:ext cx="7955279" cy="265176"/>
          </a:xfrm>
          <a:prstGeom prst="roundRect">
            <a:avLst>
              <a:gd name="adj" fmla="val 10000"/>
            </a:avLst>
          </a:prstGeom>
          <a:solidFill>
            <a:srgbClr val="254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94944" y="2514600"/>
            <a:ext cx="59436" cy="59436"/>
          </a:xfrm>
          <a:prstGeom prst="ellipse">
            <a:avLst/>
          </a:prstGeom>
          <a:solidFill>
            <a:srgbClr val="EF6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" y="2514600"/>
            <a:ext cx="59436" cy="59436"/>
          </a:xfrm>
          <a:prstGeom prst="ellipse">
            <a:avLst/>
          </a:prstGeom>
          <a:solidFill>
            <a:srgbClr val="E8B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" y="2514600"/>
            <a:ext cx="59436" cy="59436"/>
          </a:xfrm>
          <a:prstGeom prst="ellipse">
            <a:avLst/>
          </a:prstGeom>
          <a:solidFill>
            <a:srgbClr val="63C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7320" y="2478024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A6BDCF"/>
                </a:solidFill>
                <a:latin typeface="Aptos"/>
              </a:defRPr>
            </a:pPr>
            <a:r>
              <a:t>SMARTCARGO   /   RELATORIOS-TURNO</a:t>
            </a:r>
          </a:p>
        </p:txBody>
      </p:sp>
      <p:pic>
        <p:nvPicPr>
          <p:cNvPr id="27" name="Picture 26" descr="relatorios-turno • Relatório • turno a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88336"/>
            <a:ext cx="7955279" cy="497204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89720" y="2432304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43CEEF"/>
                </a:solidFill>
                <a:latin typeface="Aptos"/>
              </a:defRPr>
            </a:pPr>
            <a:r>
              <a:t>POR QUE ESTA TELA EXISTE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2852928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FFFFFF"/>
                </a:solidFill>
                <a:latin typeface="Aptos"/>
              </a:defRPr>
            </a:pPr>
            <a:r>
              <a:t>Consultar um recorte das cargas apresentadas.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89720" y="4270248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12" y="446227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30384" y="4434840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4 cargas na demonstração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9720" y="5221224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54312" y="541324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5385816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Peso total: 1.170 kg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9720" y="6172200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54312" y="636422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0384" y="6336792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1 pronta no estado inicial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808975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DADOS SIMULADOS   /   RESULTADOS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30 / 32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156448"/>
            <a:ext cx="12773025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3533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FFFFFF"/>
                </a:solidFill>
                <a:latin typeface="Aptos"/>
              </a:defRPr>
            </a:pPr>
            <a:r>
              <a:t>Relatórios após a conclusão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ACESSO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16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GESTÃO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2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PRIORIDADE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CAPACIDADE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15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74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A6BDCF"/>
                </a:solidFill>
                <a:latin typeface="Aptos"/>
              </a:defRPr>
            </a:pPr>
            <a:r>
              <a:t>EXECUÇÃO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978640" y="1847088"/>
            <a:ext cx="2103120" cy="292608"/>
          </a:xfrm>
          <a:prstGeom prst="roundRect">
            <a:avLst>
              <a:gd name="adj" fmla="val 10000"/>
            </a:avLst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60936" y="189738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1">
                <a:solidFill>
                  <a:srgbClr val="071E35"/>
                </a:solidFill>
                <a:latin typeface="Aptos"/>
              </a:defRPr>
            </a:pPr>
            <a:r>
              <a:t>RESULTADOS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542032"/>
            <a:ext cx="8065007" cy="5246369"/>
          </a:xfrm>
          <a:prstGeom prst="roundRect">
            <a:avLst>
              <a:gd name="adj" fmla="val 10000"/>
            </a:avLst>
          </a:prstGeom>
          <a:solidFill>
            <a:srgbClr val="02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2423160"/>
            <a:ext cx="7955279" cy="265176"/>
          </a:xfrm>
          <a:prstGeom prst="roundRect">
            <a:avLst>
              <a:gd name="adj" fmla="val 10000"/>
            </a:avLst>
          </a:prstGeom>
          <a:solidFill>
            <a:srgbClr val="254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94944" y="2514600"/>
            <a:ext cx="59436" cy="59436"/>
          </a:xfrm>
          <a:prstGeom prst="ellipse">
            <a:avLst/>
          </a:prstGeom>
          <a:solidFill>
            <a:srgbClr val="EF6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" y="2514600"/>
            <a:ext cx="59436" cy="59436"/>
          </a:xfrm>
          <a:prstGeom prst="ellipse">
            <a:avLst/>
          </a:prstGeom>
          <a:solidFill>
            <a:srgbClr val="E8B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" y="2514600"/>
            <a:ext cx="59436" cy="59436"/>
          </a:xfrm>
          <a:prstGeom prst="ellipse">
            <a:avLst/>
          </a:prstGeom>
          <a:solidFill>
            <a:srgbClr val="63C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7320" y="2478024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A6BDCF"/>
                </a:solidFill>
                <a:latin typeface="Aptos"/>
              </a:defRPr>
            </a:pPr>
            <a:r>
              <a:t>SMARTCARGO   /   RELATORIOS-FINAL</a:t>
            </a:r>
          </a:p>
        </p:txBody>
      </p:sp>
      <p:pic>
        <p:nvPicPr>
          <p:cNvPr id="27" name="Picture 26" descr="relatorios-final • Relatórios operacion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88336"/>
            <a:ext cx="7955279" cy="497204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89720" y="2432304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43CEEF"/>
                </a:solidFill>
                <a:latin typeface="Aptos"/>
              </a:defRPr>
            </a:pPr>
            <a:r>
              <a:t>POR QUE ESTA TELA EXISTE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2852928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FFFFFF"/>
                </a:solidFill>
                <a:latin typeface="Aptos"/>
              </a:defRPr>
            </a:pPr>
            <a:r>
              <a:t>Registrar o impacto da carga finalizada.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89720" y="4270248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12" y="446227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30384" y="4434840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92/101 no prazo: 91,1%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9720" y="5221224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54312" y="541324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5385816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0 críticas ativas; atraso mantido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9720" y="6172200"/>
            <a:ext cx="4800600" cy="822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54312" y="636422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0384" y="6336792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FFFFFF"/>
                </a:solidFill>
                <a:latin typeface="Aptos"/>
              </a:defRPr>
            </a:pPr>
            <a:r>
              <a:t>Ocupação média: 85%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808975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DADOS SIMULADOS   /   DEMONSTRAÇÃO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31 / 32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156448"/>
            <a:ext cx="13198792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2801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800" b="1">
                <a:solidFill>
                  <a:srgbClr val="FFFFFF"/>
                </a:solidFill>
                <a:latin typeface="Aptos"/>
              </a:defRPr>
            </a:pPr>
            <a:r>
              <a:t>Da urgência ao resultado.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40280"/>
            <a:ext cx="12801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200" b="0">
                <a:solidFill>
                  <a:srgbClr val="A6BDCF"/>
                </a:solidFill>
                <a:latin typeface="Aptos"/>
              </a:defRPr>
            </a:pPr>
            <a:r>
              <a:t>Use este caminho para apresentar a jornada principal da SC-1042.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474720"/>
            <a:ext cx="2560320" cy="3108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3685032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400" b="1">
                <a:solidFill>
                  <a:srgbClr val="43CEE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461772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IDENTIFICAR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539496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A6BDCF"/>
                </a:solidFill>
                <a:latin typeface="Aptos"/>
              </a:defRPr>
            </a:pPr>
            <a:r>
              <a:t>Dashboard → Fila</a:t>
            </a:r>
          </a:p>
          <a:p>
            <a:pPr>
              <a:spcAft>
                <a:spcPts val="900"/>
              </a:spcAft>
              <a:defRPr sz="1700" b="0">
                <a:solidFill>
                  <a:srgbClr val="A6BDCF"/>
                </a:solidFill>
                <a:latin typeface="Aptos"/>
              </a:defRPr>
            </a:pPr>
            <a:r>
              <a:t>Analisar risco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01568" y="3474720"/>
            <a:ext cx="2560320" cy="3108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4448" y="3685032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400" b="1">
                <a:solidFill>
                  <a:srgbClr val="43CEE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461772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DECIDIR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539496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A6BDCF"/>
                </a:solidFill>
                <a:latin typeface="Aptos"/>
              </a:defRPr>
            </a:pPr>
            <a:r>
              <a:t>Confirmar início</a:t>
            </a:r>
          </a:p>
          <a:p>
            <a:pPr>
              <a:spcAft>
                <a:spcPts val="900"/>
              </a:spcAft>
              <a:defRPr sz="1700" b="0">
                <a:solidFill>
                  <a:srgbClr val="A6BDCF"/>
                </a:solidFill>
                <a:latin typeface="Aptos"/>
              </a:defRPr>
            </a:pPr>
            <a:r>
              <a:t>Consultar capacidade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6" y="3474720"/>
            <a:ext cx="2560320" cy="3108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3685032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400" b="1">
                <a:solidFill>
                  <a:srgbClr val="43CEE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461772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ALOCAR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539496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A6BDCF"/>
                </a:solidFill>
                <a:latin typeface="Aptos"/>
              </a:defRPr>
            </a:pPr>
            <a:r>
              <a:t>Simular Separação</a:t>
            </a:r>
          </a:p>
          <a:p>
            <a:pPr>
              <a:spcAft>
                <a:spcPts val="900"/>
              </a:spcAft>
              <a:defRPr sz="1700" b="0">
                <a:solidFill>
                  <a:srgbClr val="A6BDCF"/>
                </a:solidFill>
                <a:latin typeface="Aptos"/>
              </a:defRPr>
            </a:pPr>
            <a:r>
              <a:t>Confirmar 4 posições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24544" y="3474720"/>
            <a:ext cx="2560320" cy="3108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7424" y="3685032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400" b="1">
                <a:solidFill>
                  <a:srgbClr val="43CEEF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07424" y="461772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ACOMPANHAR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7424" y="539496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A6BDCF"/>
                </a:solidFill>
                <a:latin typeface="Aptos"/>
              </a:defRPr>
            </a:pPr>
            <a:r>
              <a:t>Separação → Consolidada</a:t>
            </a:r>
          </a:p>
          <a:p>
            <a:pPr>
              <a:spcAft>
                <a:spcPts val="900"/>
              </a:spcAft>
              <a:defRPr sz="1700" b="0">
                <a:solidFill>
                  <a:srgbClr val="A6BDCF"/>
                </a:solidFill>
                <a:latin typeface="Aptos"/>
              </a:defRPr>
            </a:pPr>
            <a:r>
              <a:t>Pronta para embarque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686032" y="3474720"/>
            <a:ext cx="2560320" cy="3108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868911" y="3685032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400" b="1">
                <a:solidFill>
                  <a:srgbClr val="43CEEF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68911" y="461772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AVALIAR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68911" y="539496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A6BDCF"/>
                </a:solidFill>
                <a:latin typeface="Aptos"/>
              </a:defRPr>
            </a:pPr>
            <a:r>
              <a:t>Resultado final</a:t>
            </a:r>
          </a:p>
          <a:p>
            <a:pPr>
              <a:spcAft>
                <a:spcPts val="900"/>
              </a:spcAft>
              <a:defRPr sz="1700" b="0">
                <a:solidFill>
                  <a:srgbClr val="A6BDCF"/>
                </a:solidFill>
                <a:latin typeface="Aptos"/>
              </a:defRPr>
            </a:pPr>
            <a:r>
              <a:t>Relatórios atualizados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808975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DADOS SIMULADOS   /   PRÓXIMOS PASSOS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32 / 32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156448"/>
            <a:ext cx="13624560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128016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4300" b="1">
                <a:solidFill>
                  <a:srgbClr val="FFFFFF"/>
                </a:solidFill>
                <a:latin typeface="Aptos"/>
              </a:defRPr>
            </a:pPr>
            <a:r>
              <a:t>Decisões claras.</a:t>
            </a:r>
          </a:p>
          <a:p>
            <a:pPr>
              <a:spcAft>
                <a:spcPts val="900"/>
              </a:spcAft>
              <a:defRPr sz="4300" b="1">
                <a:solidFill>
                  <a:srgbClr val="FFFFFF"/>
                </a:solidFill>
                <a:latin typeface="Aptos"/>
              </a:defRPr>
            </a:pPr>
            <a:r>
              <a:t>Operação rastreável.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337560"/>
            <a:ext cx="6400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500" b="0">
                <a:solidFill>
                  <a:srgbClr val="A6BDCF"/>
                </a:solidFill>
                <a:latin typeface="Aptos"/>
              </a:defRPr>
            </a:pPr>
            <a:r>
              <a:t>O protótipo conecta prioridade, espaço e execução. O próximo passo é transformar a jornada em um sistema funcional.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3383280"/>
            <a:ext cx="5577840" cy="100584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49640" y="35204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IMPLEMENTAR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386791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0">
                <a:solidFill>
                  <a:srgbClr val="FFFFFF"/>
                </a:solidFill>
                <a:latin typeface="Aptos"/>
              </a:defRPr>
            </a:pPr>
            <a:r>
              <a:t>HTML, CSS, JavaScript e Tailwind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4617720"/>
            <a:ext cx="5577840" cy="100584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9640" y="47548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INTEGRAR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510235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0">
                <a:solidFill>
                  <a:srgbClr val="FFFFFF"/>
                </a:solidFill>
                <a:latin typeface="Aptos"/>
              </a:defRPr>
            </a:pPr>
            <a:r>
              <a:t>Dados, estados e indicadores consistentes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5852160"/>
            <a:ext cx="5577840" cy="100584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9640" y="59893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VALIDAR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633679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0">
                <a:solidFill>
                  <a:srgbClr val="FFFFFF"/>
                </a:solidFill>
                <a:latin typeface="Aptos"/>
              </a:defRPr>
            </a:pPr>
            <a:r>
              <a:t>Fluxos e regras com operadores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537960"/>
            <a:ext cx="6400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SMARTCARGO  /  CHALLENGE FIAP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